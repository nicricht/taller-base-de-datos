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Nuestro proyecto se llama EDUBIO360. En esta presentación voy a explicar el problema que resuelve, cómo organizamos los datos y por qué utilizamos RECORD, VARRAY, cursores, loops, excepciones y, a futuro, procedimientos, funciones, packages y triggers.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es que la fuente original tiene 106.555 filas y 28 columnas en una estructura plana. Eso significa que se repiten instituciones, carreras, comunas y otros valores. Primero recibimos la información en una tabla temporal de carga para revisarla y después la distribuimos en 19 tablas normalizadas. El objetivo es que EDUBIO360 pueda responder preguntas reales, por ejemplo qué institución imparte una carrera, dónde se ofrece, en qué modalidad y cuál es su costo.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modelo relacional de EDUBIO360. Está formado por 19 tablas de negocio. La tabla STAGING_MATRICULA no se considera parte del modelo porque solo recibe temporalmente la fuente. Aplicamos normalización hasta tercera forma normal. Por ejemplo, separamos denominación de carrera, nivel, oferta académica y plan para evitar repetir información y permitir que cada concepto tenga una responsabilidad clara.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sirve cuando varios datos pertenecen lógicamente a la misma fila. En nuestro caso una oferta tiene carrera, institución, comuna, modalidad, jornada, matrícula y arancel. En vez de mantener una variable independiente para cada dato, definimos t_oferta y trabajamos con v_oferta. No afirmamos que RECORD haga la consulta más rápida; su aporte principal es organizar el bloque y reducir variables sueltas.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VARRAY se justifica porque en este ejemplo conocemos el máximo: cinco alternativas. Definimos arreglos de cinco posiciones para nombres y aranceles. BULK COLLECT permite traer varias filas desde SQL hacia la colección en una operación y luego las recorremos con un LOOP. Si la cantidad fuera abierta o creciera sin límite, VARRAY dejaría de ser la mejor alternativa.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se encuentra uno de los puntos más importantes de la pauta. c_areas es un cursor sin parámetros. c_ofertas_por_area recibe p_id_area, por lo que es parametrizado. El LOOP externo recorre áreas y el interno usa ese ID para obtener sus ofertas. Es un cursor complejo porque integra información de varias tablas: denominación, carrera, nivel, oferta académica, institución y plan. Además probamos la forma manual con OPEN, FETCH, porcentaje NOTFOUND y CLOSE.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Usamos dos excepciones predefinidas por Oracle y una propia. NO_DATA_FOUND aparece cuando SELECT INTO no devuelve filas. TOO_MANY_ROWS ocurre cuando esperábamos una fila y recibimos varias. e_arancel_invalido representa una regla del proyecto y la levantamos con RAISE cuando el valor es negativo. Las excepciones controlan el flujo, pero no reemplazan restricciones de integridad como PK, FK, NOT NULL o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pauta pide explicar la utilización futura de estos objetos. No los proponemos solo por cumplir. El procedimiento generaría reportes por área, la función clasificaría un arancel y devolvería un valor, el package agruparía la lógica académica relacionada y el trigger serviría para auditoría cuando se modifiquen aranceles. Cada uno tiene una responsabilidad distinta.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objetos funcionarían en conjunto, pero hay que controlar sus riesgos. En rendimiento evitaríamos procesos fila por fila si SQL puede resolverlos mejor. En mantenimiento cada objeto debe tener una responsabilidad clara y hay que revisar dependencias si cambia una tabla. En seguridad no todos los usuarios deben poder ejecutarlos o modificarlos. Y los triggers sirven como apoyo de auditoría, no como reemplazo de las restricciones de integridad.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conclusión, primero transformamos una fuente plana de 106.555 registros en 19 tablas normalizadas. Después utilizamos PL/SQL con una finalidad concreta: RECORD para agrupar datos, VARRAY para conjuntos pequeños, cursores para recorridos relacionados y excepciones para controlar errores. Finalmente dejamos definida una estrategia futura para procedures, functions, packages y triggers. Con esto EDUBIO360 queda preparado para que otros componentes consulten información ordenada y consistente.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051560"/>
            <a:ext cx="7589520" cy="731520"/>
          </a:xfrm>
          <a:prstGeom prst="rect">
            <a:avLst/>
          </a:prstGeom>
          <a:noFill/>
        </p:spPr>
        <p:txBody>
          <a:bodyPr wrap="square" anchor="t">
            <a:spAutoFit/>
          </a:bodyPr>
          <a:lstStyle/>
          <a:p>
            <a:pPr algn="l"/>
            <a:r>
              <a:rPr sz="3400" b="1">
                <a:solidFill>
                  <a:srgbClr val="123A5A"/>
                </a:solidFill>
                <a:latin typeface="Aptos Display"/>
              </a:rPr>
              <a:t>EDUBIO360</a:t>
            </a:r>
          </a:p>
        </p:txBody>
      </p:sp>
      <p:sp>
        <p:nvSpPr>
          <p:cNvPr id="3" name="TextBox 2"/>
          <p:cNvSpPr txBox="1"/>
          <p:nvPr/>
        </p:nvSpPr>
        <p:spPr>
          <a:xfrm>
            <a:off x="713232" y="1828800"/>
            <a:ext cx="6583680" cy="457200"/>
          </a:xfrm>
          <a:prstGeom prst="rect">
            <a:avLst/>
          </a:prstGeom>
          <a:noFill/>
        </p:spPr>
        <p:txBody>
          <a:bodyPr wrap="square" anchor="t">
            <a:spAutoFit/>
          </a:bodyPr>
          <a:lstStyle/>
          <a:p>
            <a:pPr algn="l"/>
            <a:r>
              <a:rPr sz="2200" b="1">
                <a:solidFill>
                  <a:srgbClr val="2E5CA1"/>
                </a:solidFill>
                <a:latin typeface="Aptos"/>
              </a:rPr>
              <a:t>Evaluación Parcial N° 1</a:t>
            </a:r>
          </a:p>
        </p:txBody>
      </p:sp>
      <p:sp>
        <p:nvSpPr>
          <p:cNvPr id="4" name="TextBox 3"/>
          <p:cNvSpPr txBox="1"/>
          <p:nvPr/>
        </p:nvSpPr>
        <p:spPr>
          <a:xfrm>
            <a:off x="731520" y="2395728"/>
            <a:ext cx="6126480" cy="320040"/>
          </a:xfrm>
          <a:prstGeom prst="rect">
            <a:avLst/>
          </a:prstGeom>
          <a:noFill/>
        </p:spPr>
        <p:txBody>
          <a:bodyPr wrap="square" anchor="t">
            <a:spAutoFit/>
          </a:bodyPr>
          <a:lstStyle/>
          <a:p>
            <a:pPr algn="l"/>
            <a:r>
              <a:rPr sz="1400" b="0">
                <a:solidFill>
                  <a:srgbClr val="5B6573"/>
                </a:solidFill>
                <a:latin typeface="Aptos"/>
              </a:rPr>
              <a:t>Taller de Base de Datos · BDY1103</a:t>
            </a:r>
          </a:p>
        </p:txBody>
      </p:sp>
      <p:sp>
        <p:nvSpPr>
          <p:cNvPr id="5" name="TextBox 4"/>
          <p:cNvSpPr txBox="1"/>
          <p:nvPr/>
        </p:nvSpPr>
        <p:spPr>
          <a:xfrm>
            <a:off x="731520" y="2971800"/>
            <a:ext cx="6217920" cy="347472"/>
          </a:xfrm>
          <a:prstGeom prst="rect">
            <a:avLst/>
          </a:prstGeom>
          <a:noFill/>
        </p:spPr>
        <p:txBody>
          <a:bodyPr wrap="square" anchor="t">
            <a:spAutoFit/>
          </a:bodyPr>
          <a:lstStyle/>
          <a:p>
            <a:pPr algn="l"/>
            <a:r>
              <a:rPr sz="1550" b="0">
                <a:solidFill>
                  <a:srgbClr val="1F2937"/>
                </a:solidFill>
                <a:latin typeface="Aptos"/>
              </a:rPr>
              <a:t>Javier Pérez  ·  Nicolás Vega</a:t>
            </a:r>
          </a:p>
        </p:txBody>
      </p:sp>
      <p:sp>
        <p:nvSpPr>
          <p:cNvPr id="6" name="TextBox 5"/>
          <p:cNvSpPr txBox="1"/>
          <p:nvPr/>
        </p:nvSpPr>
        <p:spPr>
          <a:xfrm>
            <a:off x="731520" y="3401568"/>
            <a:ext cx="6217920" cy="347472"/>
          </a:xfrm>
          <a:prstGeom prst="rect">
            <a:avLst/>
          </a:prstGeom>
          <a:noFill/>
        </p:spPr>
        <p:txBody>
          <a:bodyPr wrap="square" anchor="t">
            <a:spAutoFit/>
          </a:bodyPr>
          <a:lstStyle/>
          <a:p>
            <a:pPr algn="l"/>
            <a:r>
              <a:rPr sz="1400" b="1">
                <a:solidFill>
                  <a:srgbClr val="4E8B57"/>
                </a:solidFill>
                <a:latin typeface="Aptos"/>
              </a:rPr>
              <a:t>Base de datos Oracle + PL/SQL</a:t>
            </a:r>
          </a:p>
        </p:txBody>
      </p:sp>
      <p:sp>
        <p:nvSpPr>
          <p:cNvPr id="7" name="Rounded Rectangle 6"/>
          <p:cNvSpPr/>
          <p:nvPr/>
        </p:nvSpPr>
        <p:spPr>
          <a:xfrm>
            <a:off x="731520" y="3977639"/>
            <a:ext cx="2240280" cy="347472"/>
          </a:xfrm>
          <a:prstGeom prst="round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986783"/>
            <a:ext cx="2240280" cy="256032"/>
          </a:xfrm>
          <a:prstGeom prst="rect">
            <a:avLst/>
          </a:prstGeom>
          <a:noFill/>
        </p:spPr>
        <p:txBody>
          <a:bodyPr wrap="square" anchor="ctr">
            <a:spAutoFit/>
          </a:bodyPr>
          <a:lstStyle/>
          <a:p>
            <a:pPr algn="ctr"/>
            <a:r>
              <a:rPr sz="950" b="1">
                <a:solidFill>
                  <a:srgbClr val="FFFFFF"/>
                </a:solidFill>
                <a:latin typeface="Aptos"/>
              </a:rPr>
              <a:t>Presentación individual · 60%</a:t>
            </a:r>
          </a:p>
        </p:txBody>
      </p:sp>
      <p:sp>
        <p:nvSpPr>
          <p:cNvPr id="9" name="TextBox 8"/>
          <p:cNvSpPr txBox="1"/>
          <p:nvPr/>
        </p:nvSpPr>
        <p:spPr>
          <a:xfrm>
            <a:off x="731520" y="4572000"/>
            <a:ext cx="7955279" cy="777240"/>
          </a:xfrm>
          <a:prstGeom prst="rect">
            <a:avLst/>
          </a:prstGeom>
          <a:noFill/>
        </p:spPr>
        <p:txBody>
          <a:bodyPr wrap="square" anchor="t">
            <a:spAutoFit/>
          </a:bodyPr>
          <a:lstStyle/>
          <a:p>
            <a:pPr algn="l"/>
            <a:r>
              <a:rPr sz="1600" b="0">
                <a:solidFill>
                  <a:srgbClr val="1F2937"/>
                </a:solidFill>
                <a:latin typeface="Aptos"/>
              </a:rPr>
              <a:t>Objetivo: explicar y justificar las decisiones técnicas utilizadas para procesar y generar información relevante para EDUBIO360.</a:t>
            </a:r>
          </a:p>
        </p:txBody>
      </p:sp>
      <p:sp>
        <p:nvSpPr>
          <p:cNvPr id="10" name="Rounded Rectangle 9"/>
          <p:cNvSpPr/>
          <p:nvPr/>
        </p:nvSpPr>
        <p:spPr>
          <a:xfrm>
            <a:off x="9235440" y="1143000"/>
            <a:ext cx="1874519" cy="868680"/>
          </a:xfrm>
          <a:prstGeom prst="roundRect">
            <a:avLst/>
          </a:prstGeom>
          <a:solidFill>
            <a:srgbClr val="12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74352" y="1655064"/>
            <a:ext cx="1874519" cy="868680"/>
          </a:xfrm>
          <a:prstGeom prst="round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13263" y="2167128"/>
            <a:ext cx="1874519" cy="868680"/>
          </a:xfrm>
          <a:prstGeom prst="round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52176" y="2679192"/>
            <a:ext cx="1874519" cy="868680"/>
          </a:xfrm>
          <a:prstGeom prst="round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1. Problema, datos y objetivo</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La información existe, pero en la fuente original está concentrada y repetida.</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2</a:t>
            </a:r>
          </a:p>
        </p:txBody>
      </p:sp>
      <p:sp>
        <p:nvSpPr>
          <p:cNvPr id="5" name="Rounded Rectangle 4"/>
          <p:cNvSpPr/>
          <p:nvPr/>
        </p:nvSpPr>
        <p:spPr>
          <a:xfrm>
            <a:off x="502920" y="1325880"/>
            <a:ext cx="3429000" cy="196596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325880"/>
            <a:ext cx="73152" cy="196596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490472"/>
            <a:ext cx="3081528" cy="320040"/>
          </a:xfrm>
          <a:prstGeom prst="rect">
            <a:avLst/>
          </a:prstGeom>
          <a:noFill/>
        </p:spPr>
        <p:txBody>
          <a:bodyPr wrap="square" anchor="t">
            <a:spAutoFit/>
          </a:bodyPr>
          <a:lstStyle/>
          <a:p>
            <a:pPr algn="l"/>
            <a:r>
              <a:rPr sz="1450" b="1">
                <a:solidFill>
                  <a:srgbClr val="C66A1A"/>
                </a:solidFill>
                <a:latin typeface="Aptos"/>
              </a:rPr>
              <a:t>Problema</a:t>
            </a:r>
          </a:p>
        </p:txBody>
      </p:sp>
      <p:sp>
        <p:nvSpPr>
          <p:cNvPr id="8" name="TextBox 7"/>
          <p:cNvSpPr txBox="1"/>
          <p:nvPr/>
        </p:nvSpPr>
        <p:spPr>
          <a:xfrm>
            <a:off x="704088" y="1892807"/>
            <a:ext cx="3081528" cy="1261872"/>
          </a:xfrm>
          <a:prstGeom prst="rect">
            <a:avLst/>
          </a:prstGeom>
          <a:noFill/>
        </p:spPr>
        <p:txBody>
          <a:bodyPr wrap="square" anchor="t">
            <a:spAutoFit/>
          </a:bodyPr>
          <a:lstStyle/>
          <a:p>
            <a:pPr algn="l"/>
            <a:r>
              <a:rPr sz="1270" b="0">
                <a:solidFill>
                  <a:srgbClr val="1F2937"/>
                </a:solidFill>
                <a:latin typeface="Aptos"/>
              </a:rPr>
              <a:t>El archivo original contiene instituciones, carreras, comunas, modalidades, jornadas, matrícula y arancel en una estructura plana. Los mismos valores se repiten muchas veces.</a:t>
            </a:r>
          </a:p>
        </p:txBody>
      </p:sp>
      <p:sp>
        <p:nvSpPr>
          <p:cNvPr id="9" name="Rounded Rectangle 8"/>
          <p:cNvSpPr/>
          <p:nvPr/>
        </p:nvSpPr>
        <p:spPr>
          <a:xfrm>
            <a:off x="4133087" y="1325880"/>
            <a:ext cx="3429000" cy="196596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33087" y="1325880"/>
            <a:ext cx="73152" cy="196596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4255" y="1490472"/>
            <a:ext cx="3081528" cy="320040"/>
          </a:xfrm>
          <a:prstGeom prst="rect">
            <a:avLst/>
          </a:prstGeom>
          <a:noFill/>
        </p:spPr>
        <p:txBody>
          <a:bodyPr wrap="square" anchor="t">
            <a:spAutoFit/>
          </a:bodyPr>
          <a:lstStyle/>
          <a:p>
            <a:pPr algn="l"/>
            <a:r>
              <a:rPr sz="1450" b="1">
                <a:solidFill>
                  <a:srgbClr val="2E5CA1"/>
                </a:solidFill>
                <a:latin typeface="Aptos"/>
              </a:rPr>
              <a:t>Datos procesados</a:t>
            </a:r>
          </a:p>
        </p:txBody>
      </p:sp>
      <p:sp>
        <p:nvSpPr>
          <p:cNvPr id="12" name="TextBox 11"/>
          <p:cNvSpPr txBox="1"/>
          <p:nvPr/>
        </p:nvSpPr>
        <p:spPr>
          <a:xfrm>
            <a:off x="4334255" y="1892807"/>
            <a:ext cx="3081528" cy="1261872"/>
          </a:xfrm>
          <a:prstGeom prst="rect">
            <a:avLst/>
          </a:prstGeom>
          <a:noFill/>
        </p:spPr>
        <p:txBody>
          <a:bodyPr wrap="square" anchor="t">
            <a:spAutoFit/>
          </a:bodyPr>
          <a:lstStyle/>
          <a:p>
            <a:pPr algn="l"/>
            <a:r>
              <a:rPr sz="1300" b="0">
                <a:solidFill>
                  <a:srgbClr val="1F2937"/>
                </a:solidFill>
                <a:latin typeface="Aptos"/>
              </a:rPr>
              <a:t>106.555 registros
28 columnas
Instituciones · carreras · ubicación
Planes · costos · vías de ingreso
Matrícula histórica</a:t>
            </a:r>
          </a:p>
        </p:txBody>
      </p:sp>
      <p:sp>
        <p:nvSpPr>
          <p:cNvPr id="13" name="Rounded Rectangle 12"/>
          <p:cNvSpPr/>
          <p:nvPr/>
        </p:nvSpPr>
        <p:spPr>
          <a:xfrm>
            <a:off x="7763256" y="1325880"/>
            <a:ext cx="3886200" cy="196596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63256" y="1325880"/>
            <a:ext cx="73152" cy="196596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64424" y="1490472"/>
            <a:ext cx="3538728" cy="320040"/>
          </a:xfrm>
          <a:prstGeom prst="rect">
            <a:avLst/>
          </a:prstGeom>
          <a:noFill/>
        </p:spPr>
        <p:txBody>
          <a:bodyPr wrap="square" anchor="t">
            <a:spAutoFit/>
          </a:bodyPr>
          <a:lstStyle/>
          <a:p>
            <a:pPr algn="l"/>
            <a:r>
              <a:rPr sz="1450" b="1">
                <a:solidFill>
                  <a:srgbClr val="4E8B57"/>
                </a:solidFill>
                <a:latin typeface="Aptos"/>
              </a:rPr>
              <a:t>Objetivo de EDUBIO360</a:t>
            </a:r>
          </a:p>
        </p:txBody>
      </p:sp>
      <p:sp>
        <p:nvSpPr>
          <p:cNvPr id="16" name="TextBox 15"/>
          <p:cNvSpPr txBox="1"/>
          <p:nvPr/>
        </p:nvSpPr>
        <p:spPr>
          <a:xfrm>
            <a:off x="7964424" y="1892807"/>
            <a:ext cx="3538728" cy="1261872"/>
          </a:xfrm>
          <a:prstGeom prst="rect">
            <a:avLst/>
          </a:prstGeom>
          <a:noFill/>
        </p:spPr>
        <p:txBody>
          <a:bodyPr wrap="square" anchor="t">
            <a:spAutoFit/>
          </a:bodyPr>
          <a:lstStyle/>
          <a:p>
            <a:pPr algn="l"/>
            <a:r>
              <a:rPr sz="1270" b="0">
                <a:solidFill>
                  <a:srgbClr val="1F2937"/>
                </a:solidFill>
                <a:latin typeface="Aptos"/>
              </a:rPr>
              <a:t>Organizar la información para consultar y comparar ofertas académicas de forma clara: qué se estudia, dónde, en qué modalidad y cuánto cuesta.</a:t>
            </a:r>
          </a:p>
        </p:txBody>
      </p:sp>
      <p:sp>
        <p:nvSpPr>
          <p:cNvPr id="17" name="TextBox 16"/>
          <p:cNvSpPr txBox="1"/>
          <p:nvPr/>
        </p:nvSpPr>
        <p:spPr>
          <a:xfrm>
            <a:off x="658368" y="4069080"/>
            <a:ext cx="1874519" cy="274320"/>
          </a:xfrm>
          <a:prstGeom prst="rect">
            <a:avLst/>
          </a:prstGeom>
          <a:noFill/>
        </p:spPr>
        <p:txBody>
          <a:bodyPr wrap="square" anchor="t">
            <a:spAutoFit/>
          </a:bodyPr>
          <a:lstStyle/>
          <a:p>
            <a:pPr algn="ctr"/>
            <a:r>
              <a:rPr sz="1050" b="1">
                <a:solidFill>
                  <a:srgbClr val="5B6573"/>
                </a:solidFill>
                <a:latin typeface="Aptos"/>
              </a:rPr>
              <a:t>Fuente original</a:t>
            </a:r>
          </a:p>
        </p:txBody>
      </p:sp>
      <p:sp>
        <p:nvSpPr>
          <p:cNvPr id="18" name="Rounded Rectangle 17"/>
          <p:cNvSpPr/>
          <p:nvPr/>
        </p:nvSpPr>
        <p:spPr>
          <a:xfrm>
            <a:off x="658368" y="4389120"/>
            <a:ext cx="1874519" cy="658368"/>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517136"/>
            <a:ext cx="1764792" cy="347472"/>
          </a:xfrm>
          <a:prstGeom prst="rect">
            <a:avLst/>
          </a:prstGeom>
          <a:noFill/>
        </p:spPr>
        <p:txBody>
          <a:bodyPr wrap="square" anchor="ctr">
            <a:spAutoFit/>
          </a:bodyPr>
          <a:lstStyle/>
          <a:p>
            <a:pPr algn="ctr"/>
            <a:r>
              <a:rPr sz="1150" b="1">
                <a:solidFill>
                  <a:srgbClr val="123A5A"/>
                </a:solidFill>
                <a:latin typeface="Aptos"/>
              </a:rPr>
              <a:t>Excel / CSV</a:t>
            </a:r>
          </a:p>
        </p:txBody>
      </p:sp>
      <p:sp>
        <p:nvSpPr>
          <p:cNvPr id="20" name="TextBox 19"/>
          <p:cNvSpPr txBox="1"/>
          <p:nvPr/>
        </p:nvSpPr>
        <p:spPr>
          <a:xfrm>
            <a:off x="2569463" y="4535424"/>
            <a:ext cx="320040" cy="274320"/>
          </a:xfrm>
          <a:prstGeom prst="rect">
            <a:avLst/>
          </a:prstGeom>
          <a:noFill/>
        </p:spPr>
        <p:txBody>
          <a:bodyPr wrap="square" anchor="t">
            <a:spAutoFit/>
          </a:bodyPr>
          <a:lstStyle/>
          <a:p>
            <a:pPr algn="ctr"/>
            <a:r>
              <a:rPr sz="1800" b="1">
                <a:solidFill>
                  <a:srgbClr val="2E5CA1"/>
                </a:solidFill>
                <a:latin typeface="Aptos"/>
              </a:rPr>
              <a:t>→</a:t>
            </a:r>
          </a:p>
        </p:txBody>
      </p:sp>
      <p:sp>
        <p:nvSpPr>
          <p:cNvPr id="21" name="TextBox 20"/>
          <p:cNvSpPr txBox="1"/>
          <p:nvPr/>
        </p:nvSpPr>
        <p:spPr>
          <a:xfrm>
            <a:off x="2926080" y="4069080"/>
            <a:ext cx="1874519" cy="274320"/>
          </a:xfrm>
          <a:prstGeom prst="rect">
            <a:avLst/>
          </a:prstGeom>
          <a:noFill/>
        </p:spPr>
        <p:txBody>
          <a:bodyPr wrap="square" anchor="t">
            <a:spAutoFit/>
          </a:bodyPr>
          <a:lstStyle/>
          <a:p>
            <a:pPr algn="ctr"/>
            <a:r>
              <a:rPr sz="1050" b="1">
                <a:solidFill>
                  <a:srgbClr val="5B6573"/>
                </a:solidFill>
                <a:latin typeface="Aptos"/>
              </a:rPr>
              <a:t>Carga temporal</a:t>
            </a:r>
          </a:p>
        </p:txBody>
      </p:sp>
      <p:sp>
        <p:nvSpPr>
          <p:cNvPr id="22" name="Rounded Rectangle 21"/>
          <p:cNvSpPr/>
          <p:nvPr/>
        </p:nvSpPr>
        <p:spPr>
          <a:xfrm>
            <a:off x="2926080" y="4389120"/>
            <a:ext cx="1874519" cy="658368"/>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80944" y="4517136"/>
            <a:ext cx="1764792" cy="347472"/>
          </a:xfrm>
          <a:prstGeom prst="rect">
            <a:avLst/>
          </a:prstGeom>
          <a:noFill/>
        </p:spPr>
        <p:txBody>
          <a:bodyPr wrap="square" anchor="ctr">
            <a:spAutoFit/>
          </a:bodyPr>
          <a:lstStyle/>
          <a:p>
            <a:pPr algn="ctr"/>
            <a:r>
              <a:rPr sz="1150" b="1">
                <a:solidFill>
                  <a:srgbClr val="123A5A"/>
                </a:solidFill>
                <a:latin typeface="Aptos"/>
              </a:rPr>
              <a:t>STAGING_MATRICULA</a:t>
            </a:r>
          </a:p>
        </p:txBody>
      </p:sp>
      <p:sp>
        <p:nvSpPr>
          <p:cNvPr id="24" name="TextBox 23"/>
          <p:cNvSpPr txBox="1"/>
          <p:nvPr/>
        </p:nvSpPr>
        <p:spPr>
          <a:xfrm>
            <a:off x="4837176" y="4535424"/>
            <a:ext cx="320040" cy="274320"/>
          </a:xfrm>
          <a:prstGeom prst="rect">
            <a:avLst/>
          </a:prstGeom>
          <a:noFill/>
        </p:spPr>
        <p:txBody>
          <a:bodyPr wrap="square" anchor="t">
            <a:spAutoFit/>
          </a:bodyPr>
          <a:lstStyle/>
          <a:p>
            <a:pPr algn="ctr"/>
            <a:r>
              <a:rPr sz="1800" b="1">
                <a:solidFill>
                  <a:srgbClr val="2E5CA1"/>
                </a:solidFill>
                <a:latin typeface="Aptos"/>
              </a:rPr>
              <a:t>→</a:t>
            </a:r>
          </a:p>
        </p:txBody>
      </p:sp>
      <p:sp>
        <p:nvSpPr>
          <p:cNvPr id="25" name="TextBox 24"/>
          <p:cNvSpPr txBox="1"/>
          <p:nvPr/>
        </p:nvSpPr>
        <p:spPr>
          <a:xfrm>
            <a:off x="5193792" y="4069080"/>
            <a:ext cx="1874519" cy="274320"/>
          </a:xfrm>
          <a:prstGeom prst="rect">
            <a:avLst/>
          </a:prstGeom>
          <a:noFill/>
        </p:spPr>
        <p:txBody>
          <a:bodyPr wrap="square" anchor="t">
            <a:spAutoFit/>
          </a:bodyPr>
          <a:lstStyle/>
          <a:p>
            <a:pPr algn="ctr"/>
            <a:r>
              <a:rPr sz="1050" b="1">
                <a:solidFill>
                  <a:srgbClr val="5B6573"/>
                </a:solidFill>
                <a:latin typeface="Aptos"/>
              </a:rPr>
              <a:t>Normalización</a:t>
            </a:r>
          </a:p>
        </p:txBody>
      </p:sp>
      <p:sp>
        <p:nvSpPr>
          <p:cNvPr id="26" name="Rounded Rectangle 25"/>
          <p:cNvSpPr/>
          <p:nvPr/>
        </p:nvSpPr>
        <p:spPr>
          <a:xfrm>
            <a:off x="5193792" y="4389120"/>
            <a:ext cx="1874519" cy="658368"/>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48655" y="4517136"/>
            <a:ext cx="1764792" cy="347472"/>
          </a:xfrm>
          <a:prstGeom prst="rect">
            <a:avLst/>
          </a:prstGeom>
          <a:noFill/>
        </p:spPr>
        <p:txBody>
          <a:bodyPr wrap="square" anchor="ctr">
            <a:spAutoFit/>
          </a:bodyPr>
          <a:lstStyle/>
          <a:p>
            <a:pPr algn="ctr"/>
            <a:r>
              <a:rPr sz="1150" b="1">
                <a:solidFill>
                  <a:srgbClr val="123A5A"/>
                </a:solidFill>
                <a:latin typeface="Aptos"/>
              </a:rPr>
              <a:t>19 tablas de negocio</a:t>
            </a:r>
          </a:p>
        </p:txBody>
      </p:sp>
      <p:sp>
        <p:nvSpPr>
          <p:cNvPr id="28" name="TextBox 27"/>
          <p:cNvSpPr txBox="1"/>
          <p:nvPr/>
        </p:nvSpPr>
        <p:spPr>
          <a:xfrm>
            <a:off x="7104888" y="4535424"/>
            <a:ext cx="320040" cy="274320"/>
          </a:xfrm>
          <a:prstGeom prst="rect">
            <a:avLst/>
          </a:prstGeom>
          <a:noFill/>
        </p:spPr>
        <p:txBody>
          <a:bodyPr wrap="square" anchor="t">
            <a:spAutoFit/>
          </a:bodyPr>
          <a:lstStyle/>
          <a:p>
            <a:pPr algn="ctr"/>
            <a:r>
              <a:rPr sz="1800" b="1">
                <a:solidFill>
                  <a:srgbClr val="2E5CA1"/>
                </a:solidFill>
                <a:latin typeface="Aptos"/>
              </a:rPr>
              <a:t>→</a:t>
            </a:r>
          </a:p>
        </p:txBody>
      </p:sp>
      <p:sp>
        <p:nvSpPr>
          <p:cNvPr id="29" name="TextBox 28"/>
          <p:cNvSpPr txBox="1"/>
          <p:nvPr/>
        </p:nvSpPr>
        <p:spPr>
          <a:xfrm>
            <a:off x="7461504" y="4069080"/>
            <a:ext cx="1874519" cy="274320"/>
          </a:xfrm>
          <a:prstGeom prst="rect">
            <a:avLst/>
          </a:prstGeom>
          <a:noFill/>
        </p:spPr>
        <p:txBody>
          <a:bodyPr wrap="square" anchor="t">
            <a:spAutoFit/>
          </a:bodyPr>
          <a:lstStyle/>
          <a:p>
            <a:pPr algn="ctr"/>
            <a:r>
              <a:rPr sz="1050" b="1">
                <a:solidFill>
                  <a:srgbClr val="5B6573"/>
                </a:solidFill>
                <a:latin typeface="Aptos"/>
              </a:rPr>
              <a:t>PL/SQL</a:t>
            </a:r>
          </a:p>
        </p:txBody>
      </p:sp>
      <p:sp>
        <p:nvSpPr>
          <p:cNvPr id="30" name="Rounded Rectangle 29"/>
          <p:cNvSpPr/>
          <p:nvPr/>
        </p:nvSpPr>
        <p:spPr>
          <a:xfrm>
            <a:off x="7461504" y="4389120"/>
            <a:ext cx="1874519" cy="658368"/>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16368" y="4517136"/>
            <a:ext cx="1764792" cy="347472"/>
          </a:xfrm>
          <a:prstGeom prst="rect">
            <a:avLst/>
          </a:prstGeom>
          <a:noFill/>
        </p:spPr>
        <p:txBody>
          <a:bodyPr wrap="square" anchor="ctr">
            <a:spAutoFit/>
          </a:bodyPr>
          <a:lstStyle/>
          <a:p>
            <a:pPr algn="ctr"/>
            <a:r>
              <a:rPr sz="1150" b="1">
                <a:solidFill>
                  <a:srgbClr val="123A5A"/>
                </a:solidFill>
                <a:latin typeface="Aptos"/>
              </a:rPr>
              <a:t>Procesamiento</a:t>
            </a:r>
          </a:p>
        </p:txBody>
      </p:sp>
      <p:sp>
        <p:nvSpPr>
          <p:cNvPr id="32" name="TextBox 31"/>
          <p:cNvSpPr txBox="1"/>
          <p:nvPr/>
        </p:nvSpPr>
        <p:spPr>
          <a:xfrm>
            <a:off x="9372600" y="4535424"/>
            <a:ext cx="320040" cy="274320"/>
          </a:xfrm>
          <a:prstGeom prst="rect">
            <a:avLst/>
          </a:prstGeom>
          <a:noFill/>
        </p:spPr>
        <p:txBody>
          <a:bodyPr wrap="square" anchor="t">
            <a:spAutoFit/>
          </a:bodyPr>
          <a:lstStyle/>
          <a:p>
            <a:pPr algn="ctr"/>
            <a:r>
              <a:rPr sz="1800" b="1">
                <a:solidFill>
                  <a:srgbClr val="2E5CA1"/>
                </a:solidFill>
                <a:latin typeface="Aptos"/>
              </a:rPr>
              <a:t>→</a:t>
            </a:r>
          </a:p>
        </p:txBody>
      </p:sp>
      <p:sp>
        <p:nvSpPr>
          <p:cNvPr id="33" name="TextBox 32"/>
          <p:cNvSpPr txBox="1"/>
          <p:nvPr/>
        </p:nvSpPr>
        <p:spPr>
          <a:xfrm>
            <a:off x="9729216" y="4069080"/>
            <a:ext cx="1874519" cy="274320"/>
          </a:xfrm>
          <a:prstGeom prst="rect">
            <a:avLst/>
          </a:prstGeom>
          <a:noFill/>
        </p:spPr>
        <p:txBody>
          <a:bodyPr wrap="square" anchor="t">
            <a:spAutoFit/>
          </a:bodyPr>
          <a:lstStyle/>
          <a:p>
            <a:pPr algn="ctr"/>
            <a:r>
              <a:rPr sz="1050" b="1">
                <a:solidFill>
                  <a:srgbClr val="5B6573"/>
                </a:solidFill>
                <a:latin typeface="Aptos"/>
              </a:rPr>
              <a:t>Consulta</a:t>
            </a:r>
          </a:p>
        </p:txBody>
      </p:sp>
      <p:sp>
        <p:nvSpPr>
          <p:cNvPr id="34" name="Rounded Rectangle 33"/>
          <p:cNvSpPr/>
          <p:nvPr/>
        </p:nvSpPr>
        <p:spPr>
          <a:xfrm>
            <a:off x="9729216" y="4389120"/>
            <a:ext cx="1874519" cy="658368"/>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4517136"/>
            <a:ext cx="1764792" cy="347472"/>
          </a:xfrm>
          <a:prstGeom prst="rect">
            <a:avLst/>
          </a:prstGeom>
          <a:noFill/>
        </p:spPr>
        <p:txBody>
          <a:bodyPr wrap="square" anchor="ctr">
            <a:spAutoFit/>
          </a:bodyPr>
          <a:lstStyle/>
          <a:p>
            <a:pPr algn="ctr"/>
            <a:r>
              <a:rPr sz="1150" b="1">
                <a:solidFill>
                  <a:srgbClr val="123A5A"/>
                </a:solidFill>
                <a:latin typeface="Aptos"/>
              </a:rPr>
              <a:t>Información útil</a:t>
            </a:r>
          </a:p>
        </p:txBody>
      </p:sp>
      <p:sp>
        <p:nvSpPr>
          <p:cNvPr id="36" name="TextBox 35"/>
          <p:cNvSpPr txBox="1"/>
          <p:nvPr/>
        </p:nvSpPr>
        <p:spPr>
          <a:xfrm>
            <a:off x="731520" y="5532120"/>
            <a:ext cx="10789920" cy="411480"/>
          </a:xfrm>
          <a:prstGeom prst="rect">
            <a:avLst/>
          </a:prstGeom>
          <a:noFill/>
        </p:spPr>
        <p:txBody>
          <a:bodyPr wrap="square" anchor="t">
            <a:spAutoFit/>
          </a:bodyPr>
          <a:lstStyle/>
          <a:p>
            <a:pPr algn="ctr"/>
            <a:r>
              <a:rPr sz="1200" b="0">
                <a:solidFill>
                  <a:srgbClr val="5B6573"/>
                </a:solidFill>
                <a:latin typeface="Aptos"/>
              </a:rPr>
              <a:t>La tabla temporal solo recibe y revisa la fuente; no forma parte del modelo normalizado.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2. Modelo relacional</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Separar conceptos permite reducir repetición y mantener relaciones consistentes.</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3</a:t>
            </a:r>
          </a:p>
        </p:txBody>
      </p:sp>
      <p:sp>
        <p:nvSpPr>
          <p:cNvPr id="5" name="Rounded Rectangle 4"/>
          <p:cNvSpPr/>
          <p:nvPr/>
        </p:nvSpPr>
        <p:spPr>
          <a:xfrm>
            <a:off x="640080" y="1325880"/>
            <a:ext cx="2468880" cy="566928"/>
          </a:xfrm>
          <a:prstGeom prst="roundRect">
            <a:avLst/>
          </a:prstGeom>
          <a:solidFill>
            <a:srgbClr val="FFFFFF"/>
          </a:solidFill>
          <a:ln>
            <a:solidFill>
              <a:srgbClr val="2E5C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39"/>
            <a:ext cx="2377440" cy="256032"/>
          </a:xfrm>
          <a:prstGeom prst="rect">
            <a:avLst/>
          </a:prstGeom>
          <a:noFill/>
        </p:spPr>
        <p:txBody>
          <a:bodyPr wrap="square" anchor="t">
            <a:spAutoFit/>
          </a:bodyPr>
          <a:lstStyle/>
          <a:p>
            <a:pPr algn="ctr"/>
            <a:r>
              <a:rPr sz="1050" b="1">
                <a:solidFill>
                  <a:srgbClr val="2E5CA1"/>
                </a:solidFill>
                <a:latin typeface="Aptos"/>
              </a:rPr>
              <a:t>REGION</a:t>
            </a:r>
          </a:p>
        </p:txBody>
      </p:sp>
      <p:sp>
        <p:nvSpPr>
          <p:cNvPr id="7" name="TextBox 6"/>
          <p:cNvSpPr txBox="1"/>
          <p:nvPr/>
        </p:nvSpPr>
        <p:spPr>
          <a:xfrm>
            <a:off x="3163824" y="148132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8" name="Rounded Rectangle 7"/>
          <p:cNvSpPr/>
          <p:nvPr/>
        </p:nvSpPr>
        <p:spPr>
          <a:xfrm>
            <a:off x="3794760" y="1325880"/>
            <a:ext cx="2468880" cy="566928"/>
          </a:xfrm>
          <a:prstGeom prst="roundRect">
            <a:avLst/>
          </a:prstGeom>
          <a:solidFill>
            <a:srgbClr val="FFFFFF"/>
          </a:solidFill>
          <a:ln>
            <a:solidFill>
              <a:srgbClr val="2E5C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1463039"/>
            <a:ext cx="2377440" cy="256032"/>
          </a:xfrm>
          <a:prstGeom prst="rect">
            <a:avLst/>
          </a:prstGeom>
          <a:noFill/>
        </p:spPr>
        <p:txBody>
          <a:bodyPr wrap="square" anchor="t">
            <a:spAutoFit/>
          </a:bodyPr>
          <a:lstStyle/>
          <a:p>
            <a:pPr algn="ctr"/>
            <a:r>
              <a:rPr sz="1050" b="1">
                <a:solidFill>
                  <a:srgbClr val="2E5CA1"/>
                </a:solidFill>
                <a:latin typeface="Aptos"/>
              </a:rPr>
              <a:t>PROVINCIA</a:t>
            </a:r>
          </a:p>
        </p:txBody>
      </p:sp>
      <p:sp>
        <p:nvSpPr>
          <p:cNvPr id="10" name="TextBox 9"/>
          <p:cNvSpPr txBox="1"/>
          <p:nvPr/>
        </p:nvSpPr>
        <p:spPr>
          <a:xfrm>
            <a:off x="6318504" y="148132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11" name="Rounded Rectangle 10"/>
          <p:cNvSpPr/>
          <p:nvPr/>
        </p:nvSpPr>
        <p:spPr>
          <a:xfrm>
            <a:off x="6949440" y="1325880"/>
            <a:ext cx="2468880" cy="566928"/>
          </a:xfrm>
          <a:prstGeom prst="roundRect">
            <a:avLst/>
          </a:prstGeom>
          <a:solidFill>
            <a:srgbClr val="FFFFFF"/>
          </a:solidFill>
          <a:ln>
            <a:solidFill>
              <a:srgbClr val="2E5C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463039"/>
            <a:ext cx="2377440" cy="256032"/>
          </a:xfrm>
          <a:prstGeom prst="rect">
            <a:avLst/>
          </a:prstGeom>
          <a:noFill/>
        </p:spPr>
        <p:txBody>
          <a:bodyPr wrap="square" anchor="t">
            <a:spAutoFit/>
          </a:bodyPr>
          <a:lstStyle/>
          <a:p>
            <a:pPr algn="ctr"/>
            <a:r>
              <a:rPr sz="1050" b="1">
                <a:solidFill>
                  <a:srgbClr val="2E5CA1"/>
                </a:solidFill>
                <a:latin typeface="Aptos"/>
              </a:rPr>
              <a:t>COMUNA</a:t>
            </a:r>
          </a:p>
        </p:txBody>
      </p:sp>
      <p:sp>
        <p:nvSpPr>
          <p:cNvPr id="13" name="Rounded Rectangle 12"/>
          <p:cNvSpPr/>
          <p:nvPr/>
        </p:nvSpPr>
        <p:spPr>
          <a:xfrm>
            <a:off x="640080" y="2331720"/>
            <a:ext cx="2468880" cy="566928"/>
          </a:xfrm>
          <a:prstGeom prst="roundRect">
            <a:avLst/>
          </a:prstGeom>
          <a:solidFill>
            <a:srgbClr val="FFFFFF"/>
          </a:solidFill>
          <a:ln>
            <a:solidFill>
              <a:srgbClr val="4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68879"/>
            <a:ext cx="2377440" cy="256032"/>
          </a:xfrm>
          <a:prstGeom prst="rect">
            <a:avLst/>
          </a:prstGeom>
          <a:noFill/>
        </p:spPr>
        <p:txBody>
          <a:bodyPr wrap="square" anchor="t">
            <a:spAutoFit/>
          </a:bodyPr>
          <a:lstStyle/>
          <a:p>
            <a:pPr algn="ctr"/>
            <a:r>
              <a:rPr sz="1050" b="1">
                <a:solidFill>
                  <a:srgbClr val="4E8B57"/>
                </a:solidFill>
                <a:latin typeface="Aptos"/>
              </a:rPr>
              <a:t>TIPO_INSTITUCION</a:t>
            </a:r>
          </a:p>
        </p:txBody>
      </p:sp>
      <p:sp>
        <p:nvSpPr>
          <p:cNvPr id="15" name="TextBox 14"/>
          <p:cNvSpPr txBox="1"/>
          <p:nvPr/>
        </p:nvSpPr>
        <p:spPr>
          <a:xfrm>
            <a:off x="3163824" y="248716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16" name="Rounded Rectangle 15"/>
          <p:cNvSpPr/>
          <p:nvPr/>
        </p:nvSpPr>
        <p:spPr>
          <a:xfrm>
            <a:off x="3794760" y="2331720"/>
            <a:ext cx="2468880" cy="566928"/>
          </a:xfrm>
          <a:prstGeom prst="roundRect">
            <a:avLst/>
          </a:prstGeom>
          <a:solidFill>
            <a:srgbClr val="FFFFFF"/>
          </a:solidFill>
          <a:ln>
            <a:solidFill>
              <a:srgbClr val="4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0" y="2468879"/>
            <a:ext cx="2377440" cy="256032"/>
          </a:xfrm>
          <a:prstGeom prst="rect">
            <a:avLst/>
          </a:prstGeom>
          <a:noFill/>
        </p:spPr>
        <p:txBody>
          <a:bodyPr wrap="square" anchor="t">
            <a:spAutoFit/>
          </a:bodyPr>
          <a:lstStyle/>
          <a:p>
            <a:pPr algn="ctr"/>
            <a:r>
              <a:rPr sz="1050" b="1">
                <a:solidFill>
                  <a:srgbClr val="4E8B57"/>
                </a:solidFill>
                <a:latin typeface="Aptos"/>
              </a:rPr>
              <a:t>INSTITUCION</a:t>
            </a:r>
          </a:p>
        </p:txBody>
      </p:sp>
      <p:sp>
        <p:nvSpPr>
          <p:cNvPr id="18" name="TextBox 17"/>
          <p:cNvSpPr txBox="1"/>
          <p:nvPr/>
        </p:nvSpPr>
        <p:spPr>
          <a:xfrm>
            <a:off x="6318504" y="248716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19" name="Rounded Rectangle 18"/>
          <p:cNvSpPr/>
          <p:nvPr/>
        </p:nvSpPr>
        <p:spPr>
          <a:xfrm>
            <a:off x="6949440" y="2331720"/>
            <a:ext cx="2468880" cy="566928"/>
          </a:xfrm>
          <a:prstGeom prst="roundRect">
            <a:avLst/>
          </a:prstGeom>
          <a:solidFill>
            <a:srgbClr val="FFFFFF"/>
          </a:solidFill>
          <a:ln>
            <a:solidFill>
              <a:srgbClr val="4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2468879"/>
            <a:ext cx="2377440" cy="256032"/>
          </a:xfrm>
          <a:prstGeom prst="rect">
            <a:avLst/>
          </a:prstGeom>
          <a:noFill/>
        </p:spPr>
        <p:txBody>
          <a:bodyPr wrap="square" anchor="t">
            <a:spAutoFit/>
          </a:bodyPr>
          <a:lstStyle/>
          <a:p>
            <a:pPr algn="ctr"/>
            <a:r>
              <a:rPr sz="1050" b="1">
                <a:solidFill>
                  <a:srgbClr val="4E8B57"/>
                </a:solidFill>
                <a:latin typeface="Aptos"/>
              </a:rPr>
              <a:t>OFERTA_ACADEMICA</a:t>
            </a:r>
          </a:p>
        </p:txBody>
      </p:sp>
      <p:sp>
        <p:nvSpPr>
          <p:cNvPr id="21" name="Rounded Rectangle 20"/>
          <p:cNvSpPr/>
          <p:nvPr/>
        </p:nvSpPr>
        <p:spPr>
          <a:xfrm>
            <a:off x="640080" y="3337560"/>
            <a:ext cx="2468880" cy="566928"/>
          </a:xfrm>
          <a:prstGeom prst="roundRect">
            <a:avLst/>
          </a:prstGeom>
          <a:solidFill>
            <a:srgbClr val="FFFFFF"/>
          </a:solidFill>
          <a:ln>
            <a:solidFill>
              <a:srgbClr val="C66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474720"/>
            <a:ext cx="2377440" cy="256032"/>
          </a:xfrm>
          <a:prstGeom prst="rect">
            <a:avLst/>
          </a:prstGeom>
          <a:noFill/>
        </p:spPr>
        <p:txBody>
          <a:bodyPr wrap="square" anchor="t">
            <a:spAutoFit/>
          </a:bodyPr>
          <a:lstStyle/>
          <a:p>
            <a:pPr algn="ctr"/>
            <a:r>
              <a:rPr sz="1050" b="1">
                <a:solidFill>
                  <a:srgbClr val="C66A1A"/>
                </a:solidFill>
                <a:latin typeface="Aptos"/>
              </a:rPr>
              <a:t>AREA_CONOCIMIENTO</a:t>
            </a:r>
          </a:p>
        </p:txBody>
      </p:sp>
      <p:sp>
        <p:nvSpPr>
          <p:cNvPr id="23" name="TextBox 22"/>
          <p:cNvSpPr txBox="1"/>
          <p:nvPr/>
        </p:nvSpPr>
        <p:spPr>
          <a:xfrm>
            <a:off x="3163824" y="349300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24" name="Rounded Rectangle 23"/>
          <p:cNvSpPr/>
          <p:nvPr/>
        </p:nvSpPr>
        <p:spPr>
          <a:xfrm>
            <a:off x="3794760" y="3337560"/>
            <a:ext cx="2468880" cy="566928"/>
          </a:xfrm>
          <a:prstGeom prst="roundRect">
            <a:avLst/>
          </a:prstGeom>
          <a:solidFill>
            <a:srgbClr val="FFFFFF"/>
          </a:solidFill>
          <a:ln>
            <a:solidFill>
              <a:srgbClr val="C66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0" y="3474720"/>
            <a:ext cx="2377440" cy="256032"/>
          </a:xfrm>
          <a:prstGeom prst="rect">
            <a:avLst/>
          </a:prstGeom>
          <a:noFill/>
        </p:spPr>
        <p:txBody>
          <a:bodyPr wrap="square" anchor="t">
            <a:spAutoFit/>
          </a:bodyPr>
          <a:lstStyle/>
          <a:p>
            <a:pPr algn="ctr"/>
            <a:r>
              <a:rPr sz="1050" b="1">
                <a:solidFill>
                  <a:srgbClr val="C66A1A"/>
                </a:solidFill>
                <a:latin typeface="Aptos"/>
              </a:rPr>
              <a:t>DENOMINACION_CARRERA</a:t>
            </a:r>
          </a:p>
        </p:txBody>
      </p:sp>
      <p:sp>
        <p:nvSpPr>
          <p:cNvPr id="26" name="TextBox 25"/>
          <p:cNvSpPr txBox="1"/>
          <p:nvPr/>
        </p:nvSpPr>
        <p:spPr>
          <a:xfrm>
            <a:off x="6318504" y="349300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27" name="Rounded Rectangle 26"/>
          <p:cNvSpPr/>
          <p:nvPr/>
        </p:nvSpPr>
        <p:spPr>
          <a:xfrm>
            <a:off x="6949440" y="3337560"/>
            <a:ext cx="2468880" cy="566928"/>
          </a:xfrm>
          <a:prstGeom prst="roundRect">
            <a:avLst/>
          </a:prstGeom>
          <a:solidFill>
            <a:srgbClr val="FFFFFF"/>
          </a:solidFill>
          <a:ln>
            <a:solidFill>
              <a:srgbClr val="C66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3474720"/>
            <a:ext cx="2377440" cy="256032"/>
          </a:xfrm>
          <a:prstGeom prst="rect">
            <a:avLst/>
          </a:prstGeom>
          <a:noFill/>
        </p:spPr>
        <p:txBody>
          <a:bodyPr wrap="square" anchor="t">
            <a:spAutoFit/>
          </a:bodyPr>
          <a:lstStyle/>
          <a:p>
            <a:pPr algn="ctr"/>
            <a:r>
              <a:rPr sz="1050" b="1">
                <a:solidFill>
                  <a:srgbClr val="C66A1A"/>
                </a:solidFill>
                <a:latin typeface="Aptos"/>
              </a:rPr>
              <a:t>CARRERA</a:t>
            </a:r>
          </a:p>
        </p:txBody>
      </p:sp>
      <p:sp>
        <p:nvSpPr>
          <p:cNvPr id="29" name="Rounded Rectangle 28"/>
          <p:cNvSpPr/>
          <p:nvPr/>
        </p:nvSpPr>
        <p:spPr>
          <a:xfrm>
            <a:off x="640080" y="4343400"/>
            <a:ext cx="2468880" cy="566928"/>
          </a:xfrm>
          <a:prstGeom prst="roundRect">
            <a:avLst/>
          </a:prstGeom>
          <a:solidFill>
            <a:srgbClr val="FFFFFF"/>
          </a:solidFill>
          <a:ln>
            <a:solidFill>
              <a:srgbClr val="12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480560"/>
            <a:ext cx="2377440" cy="256032"/>
          </a:xfrm>
          <a:prstGeom prst="rect">
            <a:avLst/>
          </a:prstGeom>
          <a:noFill/>
        </p:spPr>
        <p:txBody>
          <a:bodyPr wrap="square" anchor="t">
            <a:spAutoFit/>
          </a:bodyPr>
          <a:lstStyle/>
          <a:p>
            <a:pPr algn="ctr"/>
            <a:r>
              <a:rPr sz="1050" b="1">
                <a:solidFill>
                  <a:srgbClr val="123A5A"/>
                </a:solidFill>
                <a:latin typeface="Aptos"/>
              </a:rPr>
              <a:t>TIPO_PLAN</a:t>
            </a:r>
          </a:p>
        </p:txBody>
      </p:sp>
      <p:sp>
        <p:nvSpPr>
          <p:cNvPr id="31" name="TextBox 30"/>
          <p:cNvSpPr txBox="1"/>
          <p:nvPr/>
        </p:nvSpPr>
        <p:spPr>
          <a:xfrm>
            <a:off x="3163824" y="449884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32" name="Rounded Rectangle 31"/>
          <p:cNvSpPr/>
          <p:nvPr/>
        </p:nvSpPr>
        <p:spPr>
          <a:xfrm>
            <a:off x="3794760" y="4343400"/>
            <a:ext cx="2468880" cy="566928"/>
          </a:xfrm>
          <a:prstGeom prst="roundRect">
            <a:avLst/>
          </a:prstGeom>
          <a:solidFill>
            <a:srgbClr val="FFFFFF"/>
          </a:solidFill>
          <a:ln>
            <a:solidFill>
              <a:srgbClr val="12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0" y="4480560"/>
            <a:ext cx="2377440" cy="256032"/>
          </a:xfrm>
          <a:prstGeom prst="rect">
            <a:avLst/>
          </a:prstGeom>
          <a:noFill/>
        </p:spPr>
        <p:txBody>
          <a:bodyPr wrap="square" anchor="t">
            <a:spAutoFit/>
          </a:bodyPr>
          <a:lstStyle/>
          <a:p>
            <a:pPr algn="ctr"/>
            <a:r>
              <a:rPr sz="1050" b="1">
                <a:solidFill>
                  <a:srgbClr val="123A5A"/>
                </a:solidFill>
                <a:latin typeface="Aptos"/>
              </a:rPr>
              <a:t>PLAN_OFERTA</a:t>
            </a:r>
          </a:p>
        </p:txBody>
      </p:sp>
      <p:sp>
        <p:nvSpPr>
          <p:cNvPr id="34" name="TextBox 33"/>
          <p:cNvSpPr txBox="1"/>
          <p:nvPr/>
        </p:nvSpPr>
        <p:spPr>
          <a:xfrm>
            <a:off x="6318504" y="4498848"/>
            <a:ext cx="576072" cy="228600"/>
          </a:xfrm>
          <a:prstGeom prst="rect">
            <a:avLst/>
          </a:prstGeom>
          <a:noFill/>
        </p:spPr>
        <p:txBody>
          <a:bodyPr wrap="square" anchor="t">
            <a:spAutoFit/>
          </a:bodyPr>
          <a:lstStyle/>
          <a:p>
            <a:pPr algn="ctr"/>
            <a:r>
              <a:rPr sz="950" b="1">
                <a:solidFill>
                  <a:srgbClr val="5B6573"/>
                </a:solidFill>
                <a:latin typeface="Aptos"/>
              </a:rPr>
              <a:t>1:N  →</a:t>
            </a:r>
          </a:p>
        </p:txBody>
      </p:sp>
      <p:sp>
        <p:nvSpPr>
          <p:cNvPr id="35" name="Rounded Rectangle 34"/>
          <p:cNvSpPr/>
          <p:nvPr/>
        </p:nvSpPr>
        <p:spPr>
          <a:xfrm>
            <a:off x="6949440" y="4343400"/>
            <a:ext cx="2468880" cy="566928"/>
          </a:xfrm>
          <a:prstGeom prst="roundRect">
            <a:avLst/>
          </a:prstGeom>
          <a:solidFill>
            <a:srgbClr val="FFFFFF"/>
          </a:solidFill>
          <a:ln>
            <a:solidFill>
              <a:srgbClr val="12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60" y="4480560"/>
            <a:ext cx="2377440" cy="256032"/>
          </a:xfrm>
          <a:prstGeom prst="rect">
            <a:avLst/>
          </a:prstGeom>
          <a:noFill/>
        </p:spPr>
        <p:txBody>
          <a:bodyPr wrap="square" anchor="t">
            <a:spAutoFit/>
          </a:bodyPr>
          <a:lstStyle/>
          <a:p>
            <a:pPr algn="ctr"/>
            <a:r>
              <a:rPr sz="1050" b="1">
                <a:solidFill>
                  <a:srgbClr val="123A5A"/>
                </a:solidFill>
                <a:latin typeface="Aptos"/>
              </a:rPr>
              <a:t>MATRICULA_HISTORICA</a:t>
            </a:r>
          </a:p>
        </p:txBody>
      </p:sp>
      <p:sp>
        <p:nvSpPr>
          <p:cNvPr id="37" name="Rounded Rectangle 36"/>
          <p:cNvSpPr/>
          <p:nvPr/>
        </p:nvSpPr>
        <p:spPr>
          <a:xfrm>
            <a:off x="9555480" y="1325880"/>
            <a:ext cx="2084831" cy="105156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555480" y="1325880"/>
            <a:ext cx="73152" cy="105156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56648" y="1490472"/>
            <a:ext cx="1737360" cy="320040"/>
          </a:xfrm>
          <a:prstGeom prst="rect">
            <a:avLst/>
          </a:prstGeom>
          <a:noFill/>
        </p:spPr>
        <p:txBody>
          <a:bodyPr wrap="square" anchor="t">
            <a:spAutoFit/>
          </a:bodyPr>
          <a:lstStyle/>
          <a:p>
            <a:pPr algn="l"/>
            <a:r>
              <a:rPr sz="1450" b="1">
                <a:solidFill>
                  <a:srgbClr val="2E5CA1"/>
                </a:solidFill>
                <a:latin typeface="Aptos"/>
              </a:rPr>
              <a:t>19 tablas</a:t>
            </a:r>
          </a:p>
        </p:txBody>
      </p:sp>
      <p:sp>
        <p:nvSpPr>
          <p:cNvPr id="40" name="TextBox 39"/>
          <p:cNvSpPr txBox="1"/>
          <p:nvPr/>
        </p:nvSpPr>
        <p:spPr>
          <a:xfrm>
            <a:off x="9756648" y="1892807"/>
            <a:ext cx="1737360" cy="347471"/>
          </a:xfrm>
          <a:prstGeom prst="rect">
            <a:avLst/>
          </a:prstGeom>
          <a:noFill/>
        </p:spPr>
        <p:txBody>
          <a:bodyPr wrap="square" anchor="t">
            <a:spAutoFit/>
          </a:bodyPr>
          <a:lstStyle/>
          <a:p>
            <a:pPr algn="l"/>
            <a:r>
              <a:rPr sz="1150" b="0">
                <a:solidFill>
                  <a:srgbClr val="1F2937"/>
                </a:solidFill>
                <a:latin typeface="Aptos"/>
              </a:rPr>
              <a:t>Modelo de negocio normalizado.</a:t>
            </a:r>
          </a:p>
        </p:txBody>
      </p:sp>
      <p:sp>
        <p:nvSpPr>
          <p:cNvPr id="41" name="Rounded Rectangle 40"/>
          <p:cNvSpPr/>
          <p:nvPr/>
        </p:nvSpPr>
        <p:spPr>
          <a:xfrm>
            <a:off x="9555480" y="2606040"/>
            <a:ext cx="2084831" cy="105156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55480" y="2606040"/>
            <a:ext cx="73152" cy="105156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56648" y="2770632"/>
            <a:ext cx="1737360" cy="320040"/>
          </a:xfrm>
          <a:prstGeom prst="rect">
            <a:avLst/>
          </a:prstGeom>
          <a:noFill/>
        </p:spPr>
        <p:txBody>
          <a:bodyPr wrap="square" anchor="t">
            <a:spAutoFit/>
          </a:bodyPr>
          <a:lstStyle/>
          <a:p>
            <a:pPr algn="l"/>
            <a:r>
              <a:rPr sz="1450" b="1">
                <a:solidFill>
                  <a:srgbClr val="4E8B57"/>
                </a:solidFill>
                <a:latin typeface="Aptos"/>
              </a:rPr>
              <a:t>Relaciones 1:N</a:t>
            </a:r>
          </a:p>
        </p:txBody>
      </p:sp>
      <p:sp>
        <p:nvSpPr>
          <p:cNvPr id="44" name="TextBox 43"/>
          <p:cNvSpPr txBox="1"/>
          <p:nvPr/>
        </p:nvSpPr>
        <p:spPr>
          <a:xfrm>
            <a:off x="9756648" y="3172968"/>
            <a:ext cx="1737360" cy="347471"/>
          </a:xfrm>
          <a:prstGeom prst="rect">
            <a:avLst/>
          </a:prstGeom>
          <a:noFill/>
        </p:spPr>
        <p:txBody>
          <a:bodyPr wrap="square" anchor="t">
            <a:spAutoFit/>
          </a:bodyPr>
          <a:lstStyle/>
          <a:p>
            <a:pPr algn="l"/>
            <a:r>
              <a:rPr sz="1150" b="0">
                <a:solidFill>
                  <a:srgbClr val="1F2937"/>
                </a:solidFill>
                <a:latin typeface="Aptos"/>
              </a:rPr>
              <a:t>PK y FK mantienen la integridad.</a:t>
            </a:r>
          </a:p>
        </p:txBody>
      </p:sp>
      <p:sp>
        <p:nvSpPr>
          <p:cNvPr id="45" name="Rounded Rectangle 44"/>
          <p:cNvSpPr/>
          <p:nvPr/>
        </p:nvSpPr>
        <p:spPr>
          <a:xfrm>
            <a:off x="9555480" y="3886200"/>
            <a:ext cx="2084831" cy="105156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55480" y="3886200"/>
            <a:ext cx="73152" cy="105156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56648" y="4050791"/>
            <a:ext cx="1737360" cy="320040"/>
          </a:xfrm>
          <a:prstGeom prst="rect">
            <a:avLst/>
          </a:prstGeom>
          <a:noFill/>
        </p:spPr>
        <p:txBody>
          <a:bodyPr wrap="square" anchor="t">
            <a:spAutoFit/>
          </a:bodyPr>
          <a:lstStyle/>
          <a:p>
            <a:pPr algn="l"/>
            <a:r>
              <a:rPr sz="1450" b="1">
                <a:solidFill>
                  <a:srgbClr val="C66A1A"/>
                </a:solidFill>
                <a:latin typeface="Aptos"/>
              </a:rPr>
              <a:t>1FN · 2FN · 3FN</a:t>
            </a:r>
          </a:p>
        </p:txBody>
      </p:sp>
      <p:sp>
        <p:nvSpPr>
          <p:cNvPr id="48" name="TextBox 47"/>
          <p:cNvSpPr txBox="1"/>
          <p:nvPr/>
        </p:nvSpPr>
        <p:spPr>
          <a:xfrm>
            <a:off x="9756648" y="4453128"/>
            <a:ext cx="1737360" cy="347471"/>
          </a:xfrm>
          <a:prstGeom prst="rect">
            <a:avLst/>
          </a:prstGeom>
          <a:noFill/>
        </p:spPr>
        <p:txBody>
          <a:bodyPr wrap="square" anchor="t">
            <a:spAutoFit/>
          </a:bodyPr>
          <a:lstStyle/>
          <a:p>
            <a:pPr algn="l"/>
            <a:r>
              <a:rPr sz="1150" b="0">
                <a:solidFill>
                  <a:srgbClr val="1F2937"/>
                </a:solidFill>
                <a:latin typeface="Aptos"/>
              </a:rPr>
              <a:t>Se separan conceptos y dependencias.</a:t>
            </a:r>
          </a:p>
        </p:txBody>
      </p:sp>
      <p:sp>
        <p:nvSpPr>
          <p:cNvPr id="49" name="TextBox 48"/>
          <p:cNvSpPr txBox="1"/>
          <p:nvPr/>
        </p:nvSpPr>
        <p:spPr>
          <a:xfrm>
            <a:off x="685800" y="5650992"/>
            <a:ext cx="10789920" cy="384048"/>
          </a:xfrm>
          <a:prstGeom prst="rect">
            <a:avLst/>
          </a:prstGeom>
          <a:noFill/>
        </p:spPr>
        <p:txBody>
          <a:bodyPr wrap="square" anchor="t">
            <a:spAutoFit/>
          </a:bodyPr>
          <a:lstStyle/>
          <a:p>
            <a:pPr algn="ctr"/>
            <a:r>
              <a:rPr sz="1150" b="0">
                <a:solidFill>
                  <a:srgbClr val="5B6573"/>
                </a:solidFill>
                <a:latin typeface="Aptos"/>
              </a:rPr>
              <a:t>La tabla STAGING_MATRICULA queda fuera del modelo porque solo cumple una función temporal de carga.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3. RECORD: una oferta como una sola estructura</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Agrupa datos relacionados y hace más claro el procesamiento de una fila compuesta.</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4</a:t>
            </a:r>
          </a:p>
        </p:txBody>
      </p:sp>
      <p:sp>
        <p:nvSpPr>
          <p:cNvPr id="5" name="Rounded Rectangle 4"/>
          <p:cNvSpPr/>
          <p:nvPr/>
        </p:nvSpPr>
        <p:spPr>
          <a:xfrm>
            <a:off x="9829800" y="384048"/>
            <a:ext cx="1417320" cy="347472"/>
          </a:xfrm>
          <a:prstGeom prst="round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29800" y="393192"/>
            <a:ext cx="1417320" cy="256032"/>
          </a:xfrm>
          <a:prstGeom prst="rect">
            <a:avLst/>
          </a:prstGeom>
          <a:noFill/>
        </p:spPr>
        <p:txBody>
          <a:bodyPr wrap="square" anchor="ctr">
            <a:spAutoFit/>
          </a:bodyPr>
          <a:lstStyle/>
          <a:p>
            <a:pPr algn="ctr"/>
            <a:r>
              <a:rPr sz="950" b="1">
                <a:solidFill>
                  <a:srgbClr val="FFFFFF"/>
                </a:solidFill>
                <a:latin typeface="Aptos"/>
              </a:rPr>
              <a:t>IE1.1.2 · 15%</a:t>
            </a:r>
          </a:p>
        </p:txBody>
      </p:sp>
      <p:sp>
        <p:nvSpPr>
          <p:cNvPr id="7" name="Rounded Rectangle 6"/>
          <p:cNvSpPr/>
          <p:nvPr/>
        </p:nvSpPr>
        <p:spPr>
          <a:xfrm>
            <a:off x="502920" y="1325880"/>
            <a:ext cx="3337560" cy="18288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25880"/>
            <a:ext cx="73152" cy="182880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490472"/>
            <a:ext cx="2990088" cy="320040"/>
          </a:xfrm>
          <a:prstGeom prst="rect">
            <a:avLst/>
          </a:prstGeom>
          <a:noFill/>
        </p:spPr>
        <p:txBody>
          <a:bodyPr wrap="square" anchor="t">
            <a:spAutoFit/>
          </a:bodyPr>
          <a:lstStyle/>
          <a:p>
            <a:pPr algn="l"/>
            <a:r>
              <a:rPr sz="1450" b="1">
                <a:solidFill>
                  <a:srgbClr val="2E5CA1"/>
                </a:solidFill>
                <a:latin typeface="Aptos"/>
              </a:rPr>
              <a:t>¿Por qué RECORD?</a:t>
            </a:r>
          </a:p>
        </p:txBody>
      </p:sp>
      <p:sp>
        <p:nvSpPr>
          <p:cNvPr id="10" name="TextBox 9"/>
          <p:cNvSpPr txBox="1"/>
          <p:nvPr/>
        </p:nvSpPr>
        <p:spPr>
          <a:xfrm>
            <a:off x="704088" y="1892807"/>
            <a:ext cx="2990088" cy="1124712"/>
          </a:xfrm>
          <a:prstGeom prst="rect">
            <a:avLst/>
          </a:prstGeom>
          <a:noFill/>
        </p:spPr>
        <p:txBody>
          <a:bodyPr wrap="square" anchor="t">
            <a:spAutoFit/>
          </a:bodyPr>
          <a:lstStyle/>
          <a:p>
            <a:pPr algn="l"/>
            <a:r>
              <a:rPr sz="1270" b="0">
                <a:solidFill>
                  <a:srgbClr val="1F2937"/>
                </a:solidFill>
                <a:latin typeface="Aptos"/>
              </a:rPr>
              <a:t>Una oferta académica tiene carrera, nivel, institución, comuna, modalidad, jornada, matrícula y arancel. RECORD permite tratarlos como una sola estructura.</a:t>
            </a:r>
          </a:p>
        </p:txBody>
      </p:sp>
      <p:sp>
        <p:nvSpPr>
          <p:cNvPr id="11" name="Rounded Rectangle 10"/>
          <p:cNvSpPr/>
          <p:nvPr/>
        </p:nvSpPr>
        <p:spPr>
          <a:xfrm>
            <a:off x="502920" y="3401568"/>
            <a:ext cx="3337560" cy="150876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401568"/>
            <a:ext cx="73152" cy="150876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3566160"/>
            <a:ext cx="2990088" cy="320040"/>
          </a:xfrm>
          <a:prstGeom prst="rect">
            <a:avLst/>
          </a:prstGeom>
          <a:noFill/>
        </p:spPr>
        <p:txBody>
          <a:bodyPr wrap="square" anchor="t">
            <a:spAutoFit/>
          </a:bodyPr>
          <a:lstStyle/>
          <a:p>
            <a:pPr algn="l"/>
            <a:r>
              <a:rPr sz="1450" b="1">
                <a:solidFill>
                  <a:srgbClr val="4E8B57"/>
                </a:solidFill>
                <a:latin typeface="Aptos"/>
              </a:rPr>
              <a:t>Aporte</a:t>
            </a:r>
          </a:p>
        </p:txBody>
      </p:sp>
      <p:sp>
        <p:nvSpPr>
          <p:cNvPr id="14" name="TextBox 13"/>
          <p:cNvSpPr txBox="1"/>
          <p:nvPr/>
        </p:nvSpPr>
        <p:spPr>
          <a:xfrm>
            <a:off x="704088" y="3968496"/>
            <a:ext cx="2990088" cy="804671"/>
          </a:xfrm>
          <a:prstGeom prst="rect">
            <a:avLst/>
          </a:prstGeom>
          <a:noFill/>
        </p:spPr>
        <p:txBody>
          <a:bodyPr wrap="square" anchor="t">
            <a:spAutoFit/>
          </a:bodyPr>
          <a:lstStyle/>
          <a:p>
            <a:pPr algn="l"/>
            <a:r>
              <a:rPr sz="1270" b="0">
                <a:solidFill>
                  <a:srgbClr val="1F2937"/>
                </a:solidFill>
                <a:latin typeface="Aptos"/>
              </a:rPr>
              <a:t>Mejora la organización del bloque y evita administrar muchas variables sueltas. Su beneficio principal es claridad y coherencia.</a:t>
            </a:r>
          </a:p>
        </p:txBody>
      </p:sp>
      <p:sp>
        <p:nvSpPr>
          <p:cNvPr id="15" name="Rounded Rectangle 14"/>
          <p:cNvSpPr/>
          <p:nvPr/>
        </p:nvSpPr>
        <p:spPr>
          <a:xfrm>
            <a:off x="4160520" y="1325880"/>
            <a:ext cx="3730752" cy="40690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7408" y="1572768"/>
            <a:ext cx="3200400" cy="320040"/>
          </a:xfrm>
          <a:prstGeom prst="rect">
            <a:avLst/>
          </a:prstGeom>
          <a:noFill/>
        </p:spPr>
        <p:txBody>
          <a:bodyPr wrap="square" anchor="t">
            <a:spAutoFit/>
          </a:bodyPr>
          <a:lstStyle/>
          <a:p>
            <a:pPr algn="l"/>
            <a:r>
              <a:rPr sz="1300" b="1">
                <a:solidFill>
                  <a:srgbClr val="93C5FD"/>
                </a:solidFill>
                <a:latin typeface="Aptos"/>
              </a:rPr>
              <a:t>Bloque PL/SQL anónimo</a:t>
            </a:r>
          </a:p>
        </p:txBody>
      </p:sp>
      <p:sp>
        <p:nvSpPr>
          <p:cNvPr id="17" name="TextBox 16"/>
          <p:cNvSpPr txBox="1"/>
          <p:nvPr/>
        </p:nvSpPr>
        <p:spPr>
          <a:xfrm>
            <a:off x="4407408" y="2011680"/>
            <a:ext cx="3246120" cy="3063240"/>
          </a:xfrm>
          <a:prstGeom prst="rect">
            <a:avLst/>
          </a:prstGeom>
          <a:noFill/>
        </p:spPr>
        <p:txBody>
          <a:bodyPr wrap="square" anchor="t">
            <a:spAutoFit/>
          </a:bodyPr>
          <a:lstStyle/>
          <a:p>
            <a:pPr algn="l"/>
            <a:r>
              <a:rPr sz="1220" b="0">
                <a:solidFill>
                  <a:srgbClr val="E5E7EB"/>
                </a:solidFill>
                <a:latin typeface="Consolas"/>
              </a:rPr>
              <a:t>TYPE t_oferta IS RECORD (
  nombre_carrera     ...%TYPE,
  nombre_institucion ...%TYPE,
  nombre_comuna      ...%TYPE,
  valor_matricula    ...%TYPE,
  valor_arancel      ...%TYPE
);
SELECT ... INTO v_oferta...</a:t>
            </a:r>
          </a:p>
        </p:txBody>
      </p:sp>
      <p:sp>
        <p:nvSpPr>
          <p:cNvPr id="18" name="Rounded Rectangle 17"/>
          <p:cNvSpPr/>
          <p:nvPr/>
        </p:nvSpPr>
        <p:spPr>
          <a:xfrm>
            <a:off x="8183879" y="1325880"/>
            <a:ext cx="3474720" cy="406908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1325880"/>
            <a:ext cx="73152" cy="406908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8" y="1490472"/>
            <a:ext cx="3127248" cy="320040"/>
          </a:xfrm>
          <a:prstGeom prst="rect">
            <a:avLst/>
          </a:prstGeom>
          <a:noFill/>
        </p:spPr>
        <p:txBody>
          <a:bodyPr wrap="square" anchor="t">
            <a:spAutoFit/>
          </a:bodyPr>
          <a:lstStyle/>
          <a:p>
            <a:pPr algn="l"/>
            <a:r>
              <a:rPr sz="1450" b="1">
                <a:solidFill>
                  <a:srgbClr val="C66A1A"/>
                </a:solidFill>
                <a:latin typeface="Aptos"/>
              </a:rPr>
              <a:t>v_oferta</a:t>
            </a:r>
          </a:p>
        </p:txBody>
      </p:sp>
      <p:sp>
        <p:nvSpPr>
          <p:cNvPr id="21" name="TextBox 20"/>
          <p:cNvSpPr txBox="1"/>
          <p:nvPr/>
        </p:nvSpPr>
        <p:spPr>
          <a:xfrm>
            <a:off x="8385048" y="1892807"/>
            <a:ext cx="3127248" cy="3364992"/>
          </a:xfrm>
          <a:prstGeom prst="rect">
            <a:avLst/>
          </a:prstGeom>
          <a:noFill/>
        </p:spPr>
        <p:txBody>
          <a:bodyPr wrap="square" anchor="t">
            <a:spAutoFit/>
          </a:bodyPr>
          <a:lstStyle/>
          <a:p>
            <a:pPr algn="l"/>
            <a:r>
              <a:rPr sz="1500" b="0">
                <a:solidFill>
                  <a:srgbClr val="1F2937"/>
                </a:solidFill>
                <a:latin typeface="Aptos"/>
              </a:rPr>
              <a:t>Carrera · Nivel
Institución · Comuna
Modalidad · Jornada
Matrícula · Arancel
Un solo registro lógico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4. VARRAY: conjunto pequeño y controlado</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Se utiliza cuando conocemos de antemano un límite máximo de elementos.</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5</a:t>
            </a:r>
          </a:p>
        </p:txBody>
      </p:sp>
      <p:sp>
        <p:nvSpPr>
          <p:cNvPr id="5" name="Rounded Rectangle 4"/>
          <p:cNvSpPr/>
          <p:nvPr/>
        </p:nvSpPr>
        <p:spPr>
          <a:xfrm>
            <a:off x="9829800" y="384048"/>
            <a:ext cx="1417320" cy="347472"/>
          </a:xfrm>
          <a:prstGeom prst="round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29800" y="393192"/>
            <a:ext cx="1417320" cy="256032"/>
          </a:xfrm>
          <a:prstGeom prst="rect">
            <a:avLst/>
          </a:prstGeom>
          <a:noFill/>
        </p:spPr>
        <p:txBody>
          <a:bodyPr wrap="square" anchor="ctr">
            <a:spAutoFit/>
          </a:bodyPr>
          <a:lstStyle/>
          <a:p>
            <a:pPr algn="ctr"/>
            <a:r>
              <a:rPr sz="950" b="1">
                <a:solidFill>
                  <a:srgbClr val="FFFFFF"/>
                </a:solidFill>
                <a:latin typeface="Aptos"/>
              </a:rPr>
              <a:t>IE1.1.2 · 15%</a:t>
            </a:r>
          </a:p>
        </p:txBody>
      </p:sp>
      <p:sp>
        <p:nvSpPr>
          <p:cNvPr id="7" name="Rounded Rectangle 6"/>
          <p:cNvSpPr/>
          <p:nvPr/>
        </p:nvSpPr>
        <p:spPr>
          <a:xfrm>
            <a:off x="502920" y="1325880"/>
            <a:ext cx="3246120" cy="141732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25880"/>
            <a:ext cx="73152" cy="141732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490472"/>
            <a:ext cx="2898648" cy="320040"/>
          </a:xfrm>
          <a:prstGeom prst="rect">
            <a:avLst/>
          </a:prstGeom>
          <a:noFill/>
        </p:spPr>
        <p:txBody>
          <a:bodyPr wrap="square" anchor="t">
            <a:spAutoFit/>
          </a:bodyPr>
          <a:lstStyle/>
          <a:p>
            <a:pPr algn="l"/>
            <a:r>
              <a:rPr sz="1450" b="1">
                <a:solidFill>
                  <a:srgbClr val="2E5CA1"/>
                </a:solidFill>
                <a:latin typeface="Aptos"/>
              </a:rPr>
              <a:t>Necesidad</a:t>
            </a:r>
          </a:p>
        </p:txBody>
      </p:sp>
      <p:sp>
        <p:nvSpPr>
          <p:cNvPr id="10" name="TextBox 9"/>
          <p:cNvSpPr txBox="1"/>
          <p:nvPr/>
        </p:nvSpPr>
        <p:spPr>
          <a:xfrm>
            <a:off x="704088" y="1892807"/>
            <a:ext cx="2898648" cy="713232"/>
          </a:xfrm>
          <a:prstGeom prst="rect">
            <a:avLst/>
          </a:prstGeom>
          <a:noFill/>
        </p:spPr>
        <p:txBody>
          <a:bodyPr wrap="square" anchor="t">
            <a:spAutoFit/>
          </a:bodyPr>
          <a:lstStyle/>
          <a:p>
            <a:pPr algn="l"/>
            <a:r>
              <a:rPr sz="1240" b="0">
                <a:solidFill>
                  <a:srgbClr val="1F2937"/>
                </a:solidFill>
                <a:latin typeface="Aptos"/>
              </a:rPr>
              <a:t>EDUBIO360 necesita recuperar un grupo reducido de alternativas. En el ejemplo se trabajan 5 ofertas con arancel positivo.</a:t>
            </a:r>
          </a:p>
        </p:txBody>
      </p:sp>
      <p:sp>
        <p:nvSpPr>
          <p:cNvPr id="11" name="Rounded Rectangle 10"/>
          <p:cNvSpPr/>
          <p:nvPr/>
        </p:nvSpPr>
        <p:spPr>
          <a:xfrm>
            <a:off x="502920" y="2926080"/>
            <a:ext cx="3246120" cy="141732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926080"/>
            <a:ext cx="73152" cy="141732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3090672"/>
            <a:ext cx="2898648" cy="320040"/>
          </a:xfrm>
          <a:prstGeom prst="rect">
            <a:avLst/>
          </a:prstGeom>
          <a:noFill/>
        </p:spPr>
        <p:txBody>
          <a:bodyPr wrap="square" anchor="t">
            <a:spAutoFit/>
          </a:bodyPr>
          <a:lstStyle/>
          <a:p>
            <a:pPr algn="l"/>
            <a:r>
              <a:rPr sz="1450" b="1">
                <a:solidFill>
                  <a:srgbClr val="4E8B57"/>
                </a:solidFill>
                <a:latin typeface="Aptos"/>
              </a:rPr>
              <a:t>Decisión técnica</a:t>
            </a:r>
          </a:p>
        </p:txBody>
      </p:sp>
      <p:sp>
        <p:nvSpPr>
          <p:cNvPr id="14" name="TextBox 13"/>
          <p:cNvSpPr txBox="1"/>
          <p:nvPr/>
        </p:nvSpPr>
        <p:spPr>
          <a:xfrm>
            <a:off x="704088" y="3493008"/>
            <a:ext cx="2898648" cy="713232"/>
          </a:xfrm>
          <a:prstGeom prst="rect">
            <a:avLst/>
          </a:prstGeom>
          <a:noFill/>
        </p:spPr>
        <p:txBody>
          <a:bodyPr wrap="square" anchor="t">
            <a:spAutoFit/>
          </a:bodyPr>
          <a:lstStyle/>
          <a:p>
            <a:pPr algn="l"/>
            <a:r>
              <a:rPr sz="1240" b="0">
                <a:solidFill>
                  <a:srgbClr val="1F2937"/>
                </a:solidFill>
                <a:latin typeface="Aptos"/>
              </a:rPr>
              <a:t>VARRAY(5) fija el máximo. BULK COLLECT carga varias filas desde SQL hacia PL/SQL en una sola operación.</a:t>
            </a:r>
          </a:p>
        </p:txBody>
      </p:sp>
      <p:sp>
        <p:nvSpPr>
          <p:cNvPr id="15" name="Rounded Rectangle 14"/>
          <p:cNvSpPr/>
          <p:nvPr/>
        </p:nvSpPr>
        <p:spPr>
          <a:xfrm>
            <a:off x="502920" y="4526280"/>
            <a:ext cx="3246120" cy="11430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526280"/>
            <a:ext cx="73152" cy="114300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690872"/>
            <a:ext cx="2898648" cy="320040"/>
          </a:xfrm>
          <a:prstGeom prst="rect">
            <a:avLst/>
          </a:prstGeom>
          <a:noFill/>
        </p:spPr>
        <p:txBody>
          <a:bodyPr wrap="square" anchor="t">
            <a:spAutoFit/>
          </a:bodyPr>
          <a:lstStyle/>
          <a:p>
            <a:pPr algn="l"/>
            <a:r>
              <a:rPr sz="1450" b="1">
                <a:solidFill>
                  <a:srgbClr val="C66A1A"/>
                </a:solidFill>
                <a:latin typeface="Aptos"/>
              </a:rPr>
              <a:t>Cuándo no usarlo</a:t>
            </a:r>
          </a:p>
        </p:txBody>
      </p:sp>
      <p:sp>
        <p:nvSpPr>
          <p:cNvPr id="18" name="TextBox 17"/>
          <p:cNvSpPr txBox="1"/>
          <p:nvPr/>
        </p:nvSpPr>
        <p:spPr>
          <a:xfrm>
            <a:off x="704088" y="5093208"/>
            <a:ext cx="2898648" cy="438912"/>
          </a:xfrm>
          <a:prstGeom prst="rect">
            <a:avLst/>
          </a:prstGeom>
          <a:noFill/>
        </p:spPr>
        <p:txBody>
          <a:bodyPr wrap="square" anchor="t">
            <a:spAutoFit/>
          </a:bodyPr>
          <a:lstStyle/>
          <a:p>
            <a:pPr algn="l"/>
            <a:r>
              <a:rPr sz="1240" b="0">
                <a:solidFill>
                  <a:srgbClr val="1F2937"/>
                </a:solidFill>
                <a:latin typeface="Aptos"/>
              </a:rPr>
              <a:t>No es ideal si la cantidad puede crecer sin un límite conocido.</a:t>
            </a:r>
          </a:p>
        </p:txBody>
      </p:sp>
      <p:pic>
        <p:nvPicPr>
          <p:cNvPr id="19" name="Picture 18" descr="02_varray.png"/>
          <p:cNvPicPr>
            <a:picLocks noChangeAspect="1"/>
          </p:cNvPicPr>
          <p:nvPr/>
        </p:nvPicPr>
        <p:blipFill>
          <a:blip r:embed="rId2"/>
          <a:stretch>
            <a:fillRect/>
          </a:stretch>
        </p:blipFill>
        <p:spPr>
          <a:xfrm>
            <a:off x="4069080" y="1371600"/>
            <a:ext cx="7589520" cy="4526280"/>
          </a:xfrm>
          <a:prstGeom prst="rect">
            <a:avLst/>
          </a:prstGeom>
        </p:spPr>
      </p:pic>
      <p:sp>
        <p:nvSpPr>
          <p:cNvPr id="20" name="TextBox 19"/>
          <p:cNvSpPr txBox="1"/>
          <p:nvPr/>
        </p:nvSpPr>
        <p:spPr>
          <a:xfrm>
            <a:off x="4160520" y="5989320"/>
            <a:ext cx="7315200" cy="292608"/>
          </a:xfrm>
          <a:prstGeom prst="rect">
            <a:avLst/>
          </a:prstGeom>
          <a:noFill/>
        </p:spPr>
        <p:txBody>
          <a:bodyPr wrap="square" anchor="t">
            <a:spAutoFit/>
          </a:bodyPr>
          <a:lstStyle/>
          <a:p>
            <a:pPr algn="ctr"/>
            <a:r>
              <a:rPr sz="1100" b="1">
                <a:solidFill>
                  <a:srgbClr val="5B6573"/>
                </a:solidFill>
                <a:latin typeface="Aptos"/>
              </a:rPr>
              <a:t>Ejecución real: VARRAY + BULK COLLECT + LOOP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5. Cursores con y sin parámetros + loops anidados</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El objetivo es recorrer áreas y, dentro de cada una, sus ofertas académicas.</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6</a:t>
            </a:r>
          </a:p>
        </p:txBody>
      </p:sp>
      <p:sp>
        <p:nvSpPr>
          <p:cNvPr id="5" name="Rounded Rectangle 4"/>
          <p:cNvSpPr/>
          <p:nvPr/>
        </p:nvSpPr>
        <p:spPr>
          <a:xfrm>
            <a:off x="9829800" y="384048"/>
            <a:ext cx="1417320" cy="347472"/>
          </a:xfrm>
          <a:prstGeom prst="round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29800" y="393192"/>
            <a:ext cx="1417320" cy="256032"/>
          </a:xfrm>
          <a:prstGeom prst="rect">
            <a:avLst/>
          </a:prstGeom>
          <a:noFill/>
        </p:spPr>
        <p:txBody>
          <a:bodyPr wrap="square" anchor="ctr">
            <a:spAutoFit/>
          </a:bodyPr>
          <a:lstStyle/>
          <a:p>
            <a:pPr algn="ctr"/>
            <a:r>
              <a:rPr sz="950" b="1">
                <a:solidFill>
                  <a:srgbClr val="FFFFFF"/>
                </a:solidFill>
                <a:latin typeface="Aptos"/>
              </a:rPr>
              <a:t>IE1.2.2 · 15%</a:t>
            </a:r>
          </a:p>
        </p:txBody>
      </p:sp>
      <p:sp>
        <p:nvSpPr>
          <p:cNvPr id="7" name="Rounded Rectangle 6"/>
          <p:cNvSpPr/>
          <p:nvPr/>
        </p:nvSpPr>
        <p:spPr>
          <a:xfrm>
            <a:off x="502920" y="1280160"/>
            <a:ext cx="2743200" cy="1078992"/>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80160"/>
            <a:ext cx="73152" cy="1078992"/>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444751"/>
            <a:ext cx="2395728" cy="320040"/>
          </a:xfrm>
          <a:prstGeom prst="rect">
            <a:avLst/>
          </a:prstGeom>
          <a:noFill/>
        </p:spPr>
        <p:txBody>
          <a:bodyPr wrap="square" anchor="t">
            <a:spAutoFit/>
          </a:bodyPr>
          <a:lstStyle/>
          <a:p>
            <a:pPr algn="l"/>
            <a:r>
              <a:rPr sz="1450" b="1">
                <a:solidFill>
                  <a:srgbClr val="2E5CA1"/>
                </a:solidFill>
                <a:latin typeface="Aptos"/>
              </a:rPr>
              <a:t>Cursor sin parámetros</a:t>
            </a:r>
          </a:p>
        </p:txBody>
      </p:sp>
      <p:sp>
        <p:nvSpPr>
          <p:cNvPr id="10" name="TextBox 9"/>
          <p:cNvSpPr txBox="1"/>
          <p:nvPr/>
        </p:nvSpPr>
        <p:spPr>
          <a:xfrm>
            <a:off x="704088" y="1847088"/>
            <a:ext cx="2395728" cy="374903"/>
          </a:xfrm>
          <a:prstGeom prst="rect">
            <a:avLst/>
          </a:prstGeom>
          <a:noFill/>
        </p:spPr>
        <p:txBody>
          <a:bodyPr wrap="square" anchor="t">
            <a:spAutoFit/>
          </a:bodyPr>
          <a:lstStyle/>
          <a:p>
            <a:pPr algn="l"/>
            <a:r>
              <a:rPr sz="1210" b="0">
                <a:solidFill>
                  <a:srgbClr val="1F2937"/>
                </a:solidFill>
                <a:latin typeface="Aptos"/>
              </a:rPr>
              <a:t>c_areas recorre todas las áreas de conocimiento.</a:t>
            </a:r>
          </a:p>
        </p:txBody>
      </p:sp>
      <p:sp>
        <p:nvSpPr>
          <p:cNvPr id="11" name="Rounded Rectangle 10"/>
          <p:cNvSpPr/>
          <p:nvPr/>
        </p:nvSpPr>
        <p:spPr>
          <a:xfrm>
            <a:off x="502920" y="2532888"/>
            <a:ext cx="2743200" cy="123444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32888"/>
            <a:ext cx="73152" cy="123444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697480"/>
            <a:ext cx="2395728" cy="320040"/>
          </a:xfrm>
          <a:prstGeom prst="rect">
            <a:avLst/>
          </a:prstGeom>
          <a:noFill/>
        </p:spPr>
        <p:txBody>
          <a:bodyPr wrap="square" anchor="t">
            <a:spAutoFit/>
          </a:bodyPr>
          <a:lstStyle/>
          <a:p>
            <a:pPr algn="l"/>
            <a:r>
              <a:rPr sz="1450" b="1">
                <a:solidFill>
                  <a:srgbClr val="4E8B57"/>
                </a:solidFill>
                <a:latin typeface="Aptos"/>
              </a:rPr>
              <a:t>Cursor parametrizado</a:t>
            </a:r>
          </a:p>
        </p:txBody>
      </p:sp>
      <p:sp>
        <p:nvSpPr>
          <p:cNvPr id="14" name="TextBox 13"/>
          <p:cNvSpPr txBox="1"/>
          <p:nvPr/>
        </p:nvSpPr>
        <p:spPr>
          <a:xfrm>
            <a:off x="704088" y="3099816"/>
            <a:ext cx="2395728" cy="530352"/>
          </a:xfrm>
          <a:prstGeom prst="rect">
            <a:avLst/>
          </a:prstGeom>
          <a:noFill/>
        </p:spPr>
        <p:txBody>
          <a:bodyPr wrap="square" anchor="t">
            <a:spAutoFit/>
          </a:bodyPr>
          <a:lstStyle/>
          <a:p>
            <a:pPr algn="l"/>
            <a:r>
              <a:rPr sz="1210" b="0">
                <a:solidFill>
                  <a:srgbClr val="1F2937"/>
                </a:solidFill>
                <a:latin typeface="Aptos"/>
              </a:rPr>
              <a:t>c_ofertas_por_area(p_id_area) recibe el ID del área y consulta sus ofertas.</a:t>
            </a:r>
          </a:p>
        </p:txBody>
      </p:sp>
      <p:sp>
        <p:nvSpPr>
          <p:cNvPr id="15" name="Rounded Rectangle 14"/>
          <p:cNvSpPr/>
          <p:nvPr/>
        </p:nvSpPr>
        <p:spPr>
          <a:xfrm>
            <a:off x="502920" y="3950208"/>
            <a:ext cx="2743200" cy="123444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950208"/>
            <a:ext cx="73152" cy="123444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14800"/>
            <a:ext cx="2395728" cy="320040"/>
          </a:xfrm>
          <a:prstGeom prst="rect">
            <a:avLst/>
          </a:prstGeom>
          <a:noFill/>
        </p:spPr>
        <p:txBody>
          <a:bodyPr wrap="square" anchor="t">
            <a:spAutoFit/>
          </a:bodyPr>
          <a:lstStyle/>
          <a:p>
            <a:pPr algn="l"/>
            <a:r>
              <a:rPr sz="1450" b="1">
                <a:solidFill>
                  <a:srgbClr val="C66A1A"/>
                </a:solidFill>
                <a:latin typeface="Aptos"/>
              </a:rPr>
              <a:t>Loops simultáneos</a:t>
            </a:r>
          </a:p>
        </p:txBody>
      </p:sp>
      <p:sp>
        <p:nvSpPr>
          <p:cNvPr id="18" name="TextBox 17"/>
          <p:cNvSpPr txBox="1"/>
          <p:nvPr/>
        </p:nvSpPr>
        <p:spPr>
          <a:xfrm>
            <a:off x="704088" y="4517136"/>
            <a:ext cx="2395728" cy="530352"/>
          </a:xfrm>
          <a:prstGeom prst="rect">
            <a:avLst/>
          </a:prstGeom>
          <a:noFill/>
        </p:spPr>
        <p:txBody>
          <a:bodyPr wrap="square" anchor="t">
            <a:spAutoFit/>
          </a:bodyPr>
          <a:lstStyle/>
          <a:p>
            <a:pPr algn="l"/>
            <a:r>
              <a:rPr sz="1210" b="0">
                <a:solidFill>
                  <a:srgbClr val="1F2937"/>
                </a:solidFill>
                <a:latin typeface="Aptos"/>
              </a:rPr>
              <a:t>LOOP externo: áreas. LOOP interno: ofertas de cada área.</a:t>
            </a:r>
          </a:p>
        </p:txBody>
      </p:sp>
      <p:sp>
        <p:nvSpPr>
          <p:cNvPr id="19" name="Rounded Rectangle 18"/>
          <p:cNvSpPr/>
          <p:nvPr/>
        </p:nvSpPr>
        <p:spPr>
          <a:xfrm>
            <a:off x="3520440" y="1280160"/>
            <a:ext cx="3794760" cy="1828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1645920"/>
            <a:ext cx="3246120" cy="1143000"/>
          </a:xfrm>
          <a:prstGeom prst="rect">
            <a:avLst/>
          </a:prstGeom>
          <a:noFill/>
        </p:spPr>
        <p:txBody>
          <a:bodyPr wrap="square" anchor="t">
            <a:spAutoFit/>
          </a:bodyPr>
          <a:lstStyle/>
          <a:p>
            <a:pPr algn="l"/>
            <a:r>
              <a:rPr sz="1220" b="0">
                <a:solidFill>
                  <a:srgbClr val="E5E7EB"/>
                </a:solidFill>
                <a:latin typeface="Consolas"/>
              </a:rPr>
              <a:t>FOR a IN c_areas LOOP
  FOR o IN c_ofertas_por_area(a.id_area) LOOP
    DBMS_OUTPUT.PUT_LINE(...);
  END LOOP;
END LOOP;</a:t>
            </a:r>
          </a:p>
        </p:txBody>
      </p:sp>
      <p:sp>
        <p:nvSpPr>
          <p:cNvPr id="21" name="Rounded Rectangle 20"/>
          <p:cNvSpPr/>
          <p:nvPr/>
        </p:nvSpPr>
        <p:spPr>
          <a:xfrm>
            <a:off x="3520440" y="3310128"/>
            <a:ext cx="3794760" cy="1874519"/>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520440" y="3310128"/>
            <a:ext cx="73152" cy="1874519"/>
          </a:xfrm>
          <a:prstGeom prst="rect">
            <a:avLst/>
          </a:prstGeom>
          <a:solidFill>
            <a:srgbClr val="12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21608" y="3474720"/>
            <a:ext cx="3447288" cy="320040"/>
          </a:xfrm>
          <a:prstGeom prst="rect">
            <a:avLst/>
          </a:prstGeom>
          <a:noFill/>
        </p:spPr>
        <p:txBody>
          <a:bodyPr wrap="square" anchor="t">
            <a:spAutoFit/>
          </a:bodyPr>
          <a:lstStyle/>
          <a:p>
            <a:pPr algn="l"/>
            <a:r>
              <a:rPr sz="1450" b="1">
                <a:solidFill>
                  <a:srgbClr val="123A5A"/>
                </a:solidFill>
                <a:latin typeface="Aptos"/>
              </a:rPr>
              <a:t>¿Por qué es complejo?</a:t>
            </a:r>
          </a:p>
        </p:txBody>
      </p:sp>
      <p:sp>
        <p:nvSpPr>
          <p:cNvPr id="24" name="TextBox 23"/>
          <p:cNvSpPr txBox="1"/>
          <p:nvPr/>
        </p:nvSpPr>
        <p:spPr>
          <a:xfrm>
            <a:off x="3721608" y="3877056"/>
            <a:ext cx="3447288" cy="1170431"/>
          </a:xfrm>
          <a:prstGeom prst="rect">
            <a:avLst/>
          </a:prstGeom>
          <a:noFill/>
        </p:spPr>
        <p:txBody>
          <a:bodyPr wrap="square" anchor="t">
            <a:spAutoFit/>
          </a:bodyPr>
          <a:lstStyle/>
          <a:p>
            <a:pPr algn="l"/>
            <a:r>
              <a:rPr sz="1200" b="0">
                <a:solidFill>
                  <a:srgbClr val="1F2937"/>
                </a:solidFill>
                <a:latin typeface="Aptos"/>
              </a:rPr>
              <a:t>Integra varias tablas relacionadas: denominación, carrera, nivel, oferta, institución y plan. El parámetro cambia el conjunto de resultados en cada iteración.</a:t>
            </a:r>
          </a:p>
        </p:txBody>
      </p:sp>
      <p:pic>
        <p:nvPicPr>
          <p:cNvPr id="25" name="Picture 24" descr="03_cursores_loops.png"/>
          <p:cNvPicPr>
            <a:picLocks noChangeAspect="1"/>
          </p:cNvPicPr>
          <p:nvPr/>
        </p:nvPicPr>
        <p:blipFill>
          <a:blip r:embed="rId2"/>
          <a:stretch>
            <a:fillRect/>
          </a:stretch>
        </p:blipFill>
        <p:spPr>
          <a:xfrm>
            <a:off x="7589520" y="1280160"/>
            <a:ext cx="4069080" cy="4297680"/>
          </a:xfrm>
          <a:prstGeom prst="rect">
            <a:avLst/>
          </a:prstGeom>
        </p:spPr>
      </p:pic>
      <p:sp>
        <p:nvSpPr>
          <p:cNvPr id="26" name="TextBox 25"/>
          <p:cNvSpPr txBox="1"/>
          <p:nvPr/>
        </p:nvSpPr>
        <p:spPr>
          <a:xfrm>
            <a:off x="3611880" y="5623560"/>
            <a:ext cx="7955279" cy="384048"/>
          </a:xfrm>
          <a:prstGeom prst="rect">
            <a:avLst/>
          </a:prstGeom>
          <a:noFill/>
        </p:spPr>
        <p:txBody>
          <a:bodyPr wrap="square" anchor="t">
            <a:spAutoFit/>
          </a:bodyPr>
          <a:lstStyle/>
          <a:p>
            <a:pPr algn="ctr"/>
            <a:r>
              <a:rPr sz="1130" b="1">
                <a:solidFill>
                  <a:srgbClr val="5B6573"/>
                </a:solidFill>
                <a:latin typeface="Aptos"/>
              </a:rPr>
              <a:t>También se probó recorrido manual con OPEN · FETCH · %NOTFOUND · CLOSE.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6. Excepciones: controlar errores sin perder el flujo</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Oracle reconoce ciertos errores; las reglas propias del proyecto requieren excepciones personalizadas.</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7</a:t>
            </a:r>
          </a:p>
        </p:txBody>
      </p:sp>
      <p:sp>
        <p:nvSpPr>
          <p:cNvPr id="5" name="Rounded Rectangle 4"/>
          <p:cNvSpPr/>
          <p:nvPr/>
        </p:nvSpPr>
        <p:spPr>
          <a:xfrm>
            <a:off x="9829800" y="384048"/>
            <a:ext cx="1417320" cy="347472"/>
          </a:xfrm>
          <a:prstGeom prst="round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29800" y="393192"/>
            <a:ext cx="1417320" cy="256032"/>
          </a:xfrm>
          <a:prstGeom prst="rect">
            <a:avLst/>
          </a:prstGeom>
          <a:noFill/>
        </p:spPr>
        <p:txBody>
          <a:bodyPr wrap="square" anchor="ctr">
            <a:spAutoFit/>
          </a:bodyPr>
          <a:lstStyle/>
          <a:p>
            <a:pPr algn="ctr"/>
            <a:r>
              <a:rPr sz="950" b="1">
                <a:solidFill>
                  <a:srgbClr val="FFFFFF"/>
                </a:solidFill>
                <a:latin typeface="Aptos"/>
              </a:rPr>
              <a:t>IE1.3.2 · 15%</a:t>
            </a:r>
          </a:p>
        </p:txBody>
      </p:sp>
      <p:sp>
        <p:nvSpPr>
          <p:cNvPr id="7" name="Rounded Rectangle 6"/>
          <p:cNvSpPr/>
          <p:nvPr/>
        </p:nvSpPr>
        <p:spPr>
          <a:xfrm>
            <a:off x="502920" y="1325880"/>
            <a:ext cx="3063240" cy="123444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25880"/>
            <a:ext cx="73152" cy="123444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490472"/>
            <a:ext cx="2715768" cy="320040"/>
          </a:xfrm>
          <a:prstGeom prst="rect">
            <a:avLst/>
          </a:prstGeom>
          <a:noFill/>
        </p:spPr>
        <p:txBody>
          <a:bodyPr wrap="square" anchor="t">
            <a:spAutoFit/>
          </a:bodyPr>
          <a:lstStyle/>
          <a:p>
            <a:pPr algn="l"/>
            <a:r>
              <a:rPr sz="1450" b="1">
                <a:solidFill>
                  <a:srgbClr val="2E5CA1"/>
                </a:solidFill>
                <a:latin typeface="Aptos"/>
              </a:rPr>
              <a:t>NO_DATA_FOUND</a:t>
            </a:r>
          </a:p>
        </p:txBody>
      </p:sp>
      <p:sp>
        <p:nvSpPr>
          <p:cNvPr id="10" name="TextBox 9"/>
          <p:cNvSpPr txBox="1"/>
          <p:nvPr/>
        </p:nvSpPr>
        <p:spPr>
          <a:xfrm>
            <a:off x="704088" y="1892807"/>
            <a:ext cx="2715768" cy="530352"/>
          </a:xfrm>
          <a:prstGeom prst="rect">
            <a:avLst/>
          </a:prstGeom>
          <a:noFill/>
        </p:spPr>
        <p:txBody>
          <a:bodyPr wrap="square" anchor="t">
            <a:spAutoFit/>
          </a:bodyPr>
          <a:lstStyle/>
          <a:p>
            <a:pPr algn="l"/>
            <a:r>
              <a:rPr sz="1200" b="0">
                <a:solidFill>
                  <a:srgbClr val="1F2937"/>
                </a:solidFill>
                <a:latin typeface="Aptos"/>
              </a:rPr>
              <a:t>Se usa cuando SELECT INTO no devuelve ninguna fila. Ejemplo: buscar un ID de carrera inexistente.</a:t>
            </a:r>
          </a:p>
        </p:txBody>
      </p:sp>
      <p:sp>
        <p:nvSpPr>
          <p:cNvPr id="11" name="Rounded Rectangle 10"/>
          <p:cNvSpPr/>
          <p:nvPr/>
        </p:nvSpPr>
        <p:spPr>
          <a:xfrm>
            <a:off x="502920" y="2743200"/>
            <a:ext cx="3063240" cy="123444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743200"/>
            <a:ext cx="73152" cy="123444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907792"/>
            <a:ext cx="2715768" cy="320040"/>
          </a:xfrm>
          <a:prstGeom prst="rect">
            <a:avLst/>
          </a:prstGeom>
          <a:noFill/>
        </p:spPr>
        <p:txBody>
          <a:bodyPr wrap="square" anchor="t">
            <a:spAutoFit/>
          </a:bodyPr>
          <a:lstStyle/>
          <a:p>
            <a:pPr algn="l"/>
            <a:r>
              <a:rPr sz="1450" b="1">
                <a:solidFill>
                  <a:srgbClr val="C66A1A"/>
                </a:solidFill>
                <a:latin typeface="Aptos"/>
              </a:rPr>
              <a:t>TOO_MANY_ROWS</a:t>
            </a:r>
          </a:p>
        </p:txBody>
      </p:sp>
      <p:sp>
        <p:nvSpPr>
          <p:cNvPr id="14" name="TextBox 13"/>
          <p:cNvSpPr txBox="1"/>
          <p:nvPr/>
        </p:nvSpPr>
        <p:spPr>
          <a:xfrm>
            <a:off x="704088" y="3310128"/>
            <a:ext cx="2715768" cy="530352"/>
          </a:xfrm>
          <a:prstGeom prst="rect">
            <a:avLst/>
          </a:prstGeom>
          <a:noFill/>
        </p:spPr>
        <p:txBody>
          <a:bodyPr wrap="square" anchor="t">
            <a:spAutoFit/>
          </a:bodyPr>
          <a:lstStyle/>
          <a:p>
            <a:pPr algn="l"/>
            <a:r>
              <a:rPr sz="1200" b="0">
                <a:solidFill>
                  <a:srgbClr val="1F2937"/>
                </a:solidFill>
                <a:latin typeface="Aptos"/>
              </a:rPr>
              <a:t>Se usa cuando SELECT INTO esperaba una fila pero la consulta devuelve varias.</a:t>
            </a:r>
          </a:p>
        </p:txBody>
      </p:sp>
      <p:sp>
        <p:nvSpPr>
          <p:cNvPr id="15" name="Rounded Rectangle 14"/>
          <p:cNvSpPr/>
          <p:nvPr/>
        </p:nvSpPr>
        <p:spPr>
          <a:xfrm>
            <a:off x="502920" y="4160520"/>
            <a:ext cx="3063240" cy="123444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160520"/>
            <a:ext cx="73152" cy="123444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325112"/>
            <a:ext cx="2715768" cy="320040"/>
          </a:xfrm>
          <a:prstGeom prst="rect">
            <a:avLst/>
          </a:prstGeom>
          <a:noFill/>
        </p:spPr>
        <p:txBody>
          <a:bodyPr wrap="square" anchor="t">
            <a:spAutoFit/>
          </a:bodyPr>
          <a:lstStyle/>
          <a:p>
            <a:pPr algn="l"/>
            <a:r>
              <a:rPr sz="1450" b="1">
                <a:solidFill>
                  <a:srgbClr val="4E8B57"/>
                </a:solidFill>
                <a:latin typeface="Aptos"/>
              </a:rPr>
              <a:t>e_arancel_invalido</a:t>
            </a:r>
          </a:p>
        </p:txBody>
      </p:sp>
      <p:sp>
        <p:nvSpPr>
          <p:cNvPr id="18" name="TextBox 17"/>
          <p:cNvSpPr txBox="1"/>
          <p:nvPr/>
        </p:nvSpPr>
        <p:spPr>
          <a:xfrm>
            <a:off x="704088" y="4727448"/>
            <a:ext cx="2715768" cy="530352"/>
          </a:xfrm>
          <a:prstGeom prst="rect">
            <a:avLst/>
          </a:prstGeom>
          <a:noFill/>
        </p:spPr>
        <p:txBody>
          <a:bodyPr wrap="square" anchor="t">
            <a:spAutoFit/>
          </a:bodyPr>
          <a:lstStyle/>
          <a:p>
            <a:pPr algn="l"/>
            <a:r>
              <a:rPr sz="1200" b="0">
                <a:solidFill>
                  <a:srgbClr val="1F2937"/>
                </a:solidFill>
                <a:latin typeface="Aptos"/>
              </a:rPr>
              <a:t>Excepción definida por el usuario. Se lanza con RAISE cuando un arancel es negativo.</a:t>
            </a:r>
          </a:p>
        </p:txBody>
      </p:sp>
      <p:pic>
        <p:nvPicPr>
          <p:cNvPr id="19" name="Picture 18" descr="04a_no_data_found.png"/>
          <p:cNvPicPr>
            <a:picLocks noChangeAspect="1"/>
          </p:cNvPicPr>
          <p:nvPr/>
        </p:nvPicPr>
        <p:blipFill>
          <a:blip r:embed="rId2"/>
          <a:stretch>
            <a:fillRect/>
          </a:stretch>
        </p:blipFill>
        <p:spPr>
          <a:xfrm>
            <a:off x="3840480" y="1325880"/>
            <a:ext cx="3749039" cy="1828800"/>
          </a:xfrm>
          <a:prstGeom prst="rect">
            <a:avLst/>
          </a:prstGeom>
        </p:spPr>
      </p:pic>
      <p:pic>
        <p:nvPicPr>
          <p:cNvPr id="20" name="Picture 19" descr="04b_too_many_rows.png"/>
          <p:cNvPicPr>
            <a:picLocks noChangeAspect="1"/>
          </p:cNvPicPr>
          <p:nvPr/>
        </p:nvPicPr>
        <p:blipFill>
          <a:blip r:embed="rId3"/>
          <a:stretch>
            <a:fillRect/>
          </a:stretch>
        </p:blipFill>
        <p:spPr>
          <a:xfrm>
            <a:off x="7818120" y="1325880"/>
            <a:ext cx="3749039" cy="1828800"/>
          </a:xfrm>
          <a:prstGeom prst="rect">
            <a:avLst/>
          </a:prstGeom>
        </p:spPr>
      </p:pic>
      <p:pic>
        <p:nvPicPr>
          <p:cNvPr id="21" name="Picture 20" descr="04c_excepcion_usuario.png"/>
          <p:cNvPicPr>
            <a:picLocks noChangeAspect="1"/>
          </p:cNvPicPr>
          <p:nvPr/>
        </p:nvPicPr>
        <p:blipFill>
          <a:blip r:embed="rId4"/>
          <a:stretch>
            <a:fillRect/>
          </a:stretch>
        </p:blipFill>
        <p:spPr>
          <a:xfrm>
            <a:off x="3840480" y="3429000"/>
            <a:ext cx="3749039" cy="1828800"/>
          </a:xfrm>
          <a:prstGeom prst="rect">
            <a:avLst/>
          </a:prstGeom>
        </p:spPr>
      </p:pic>
      <p:sp>
        <p:nvSpPr>
          <p:cNvPr id="22" name="Rounded Rectangle 21"/>
          <p:cNvSpPr/>
          <p:nvPr/>
        </p:nvSpPr>
        <p:spPr>
          <a:xfrm>
            <a:off x="7818120" y="3429000"/>
            <a:ext cx="3749039" cy="18288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18120" y="3429000"/>
            <a:ext cx="73152" cy="1828800"/>
          </a:xfrm>
          <a:prstGeom prst="rect">
            <a:avLst/>
          </a:prstGeom>
          <a:solidFill>
            <a:srgbClr val="12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9288" y="3593592"/>
            <a:ext cx="3401568" cy="320040"/>
          </a:xfrm>
          <a:prstGeom prst="rect">
            <a:avLst/>
          </a:prstGeom>
          <a:noFill/>
        </p:spPr>
        <p:txBody>
          <a:bodyPr wrap="square" anchor="t">
            <a:spAutoFit/>
          </a:bodyPr>
          <a:lstStyle/>
          <a:p>
            <a:pPr algn="l"/>
            <a:r>
              <a:rPr sz="1450" b="1">
                <a:solidFill>
                  <a:srgbClr val="123A5A"/>
                </a:solidFill>
                <a:latin typeface="Aptos"/>
              </a:rPr>
              <a:t>Integridad y criterio</a:t>
            </a:r>
          </a:p>
        </p:txBody>
      </p:sp>
      <p:sp>
        <p:nvSpPr>
          <p:cNvPr id="25" name="TextBox 24"/>
          <p:cNvSpPr txBox="1"/>
          <p:nvPr/>
        </p:nvSpPr>
        <p:spPr>
          <a:xfrm>
            <a:off x="8019288" y="3995928"/>
            <a:ext cx="3401568" cy="1124712"/>
          </a:xfrm>
          <a:prstGeom prst="rect">
            <a:avLst/>
          </a:prstGeom>
          <a:noFill/>
        </p:spPr>
        <p:txBody>
          <a:bodyPr wrap="square" anchor="t">
            <a:spAutoFit/>
          </a:bodyPr>
          <a:lstStyle/>
          <a:p>
            <a:pPr algn="l"/>
            <a:r>
              <a:rPr sz="1130" b="0">
                <a:solidFill>
                  <a:srgbClr val="1F2937"/>
                </a:solidFill>
                <a:latin typeface="Aptos"/>
              </a:rPr>
              <a:t>Las excepciones controlan el flujo y entregan mensajes claros, pero no reemplazan PK, FK, NOT NULL ni CHECK.
Oracle = error reconocido por el motor.
Usuario = regla específica del negocio.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7. Uso futuro de objetos almacenados</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No se agregan por cantidad: cada objeto debe resolver una responsabilidad concreta.</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8</a:t>
            </a:r>
          </a:p>
        </p:txBody>
      </p:sp>
      <p:sp>
        <p:nvSpPr>
          <p:cNvPr id="5" name="Rounded Rectangle 4"/>
          <p:cNvSpPr/>
          <p:nvPr/>
        </p:nvSpPr>
        <p:spPr>
          <a:xfrm>
            <a:off x="9829800" y="384048"/>
            <a:ext cx="1417320" cy="347472"/>
          </a:xfrm>
          <a:prstGeom prst="round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29800" y="393192"/>
            <a:ext cx="1417320" cy="256032"/>
          </a:xfrm>
          <a:prstGeom prst="rect">
            <a:avLst/>
          </a:prstGeom>
          <a:noFill/>
        </p:spPr>
        <p:txBody>
          <a:bodyPr wrap="square" anchor="ctr">
            <a:spAutoFit/>
          </a:bodyPr>
          <a:lstStyle/>
          <a:p>
            <a:pPr algn="ctr"/>
            <a:r>
              <a:rPr sz="950" b="1">
                <a:solidFill>
                  <a:srgbClr val="FFFFFF"/>
                </a:solidFill>
                <a:latin typeface="Aptos"/>
              </a:rPr>
              <a:t>IE1.4.2 · 15%</a:t>
            </a:r>
          </a:p>
        </p:txBody>
      </p:sp>
      <p:sp>
        <p:nvSpPr>
          <p:cNvPr id="7" name="Rounded Rectangle 6"/>
          <p:cNvSpPr/>
          <p:nvPr/>
        </p:nvSpPr>
        <p:spPr>
          <a:xfrm>
            <a:off x="502920" y="1417320"/>
            <a:ext cx="2542032" cy="38862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73152" cy="388620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81912"/>
            <a:ext cx="2194560" cy="320040"/>
          </a:xfrm>
          <a:prstGeom prst="rect">
            <a:avLst/>
          </a:prstGeom>
          <a:noFill/>
        </p:spPr>
        <p:txBody>
          <a:bodyPr wrap="square" anchor="t">
            <a:spAutoFit/>
          </a:bodyPr>
          <a:lstStyle/>
          <a:p>
            <a:pPr algn="l"/>
            <a:r>
              <a:rPr sz="1450" b="1">
                <a:solidFill>
                  <a:srgbClr val="2E5CA1"/>
                </a:solidFill>
                <a:latin typeface="Aptos"/>
              </a:rPr>
              <a:t>PROCEDURE</a:t>
            </a:r>
          </a:p>
        </p:txBody>
      </p:sp>
      <p:sp>
        <p:nvSpPr>
          <p:cNvPr id="10" name="TextBox 9"/>
          <p:cNvSpPr txBox="1"/>
          <p:nvPr/>
        </p:nvSpPr>
        <p:spPr>
          <a:xfrm>
            <a:off x="704088" y="1984248"/>
            <a:ext cx="2194560" cy="3182112"/>
          </a:xfrm>
          <a:prstGeom prst="rect">
            <a:avLst/>
          </a:prstGeom>
          <a:noFill/>
        </p:spPr>
        <p:txBody>
          <a:bodyPr wrap="square" anchor="t">
            <a:spAutoFit/>
          </a:bodyPr>
          <a:lstStyle/>
          <a:p>
            <a:pPr algn="l"/>
            <a:r>
              <a:rPr sz="1200" b="0">
                <a:solidFill>
                  <a:srgbClr val="1F2937"/>
                </a:solidFill>
                <a:latin typeface="Aptos"/>
              </a:rPr>
              <a:t>pr_generar_reporte_ofertas(p_id_area)
Ejecutaría una tarea completa: generar ofertas para un área.</a:t>
            </a:r>
          </a:p>
        </p:txBody>
      </p:sp>
      <p:sp>
        <p:nvSpPr>
          <p:cNvPr id="11" name="Rounded Rectangle 10"/>
          <p:cNvSpPr/>
          <p:nvPr/>
        </p:nvSpPr>
        <p:spPr>
          <a:xfrm>
            <a:off x="3383280" y="1417320"/>
            <a:ext cx="2542032" cy="38862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1417320"/>
            <a:ext cx="73152" cy="388620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4448" y="1581912"/>
            <a:ext cx="2194560" cy="320040"/>
          </a:xfrm>
          <a:prstGeom prst="rect">
            <a:avLst/>
          </a:prstGeom>
          <a:noFill/>
        </p:spPr>
        <p:txBody>
          <a:bodyPr wrap="square" anchor="t">
            <a:spAutoFit/>
          </a:bodyPr>
          <a:lstStyle/>
          <a:p>
            <a:pPr algn="l"/>
            <a:r>
              <a:rPr sz="1450" b="1">
                <a:solidFill>
                  <a:srgbClr val="4E8B57"/>
                </a:solidFill>
                <a:latin typeface="Aptos"/>
              </a:rPr>
              <a:t>FUNCTION</a:t>
            </a:r>
          </a:p>
        </p:txBody>
      </p:sp>
      <p:sp>
        <p:nvSpPr>
          <p:cNvPr id="14" name="TextBox 13"/>
          <p:cNvSpPr txBox="1"/>
          <p:nvPr/>
        </p:nvSpPr>
        <p:spPr>
          <a:xfrm>
            <a:off x="3584448" y="1984248"/>
            <a:ext cx="2194560" cy="3182112"/>
          </a:xfrm>
          <a:prstGeom prst="rect">
            <a:avLst/>
          </a:prstGeom>
          <a:noFill/>
        </p:spPr>
        <p:txBody>
          <a:bodyPr wrap="square" anchor="t">
            <a:spAutoFit/>
          </a:bodyPr>
          <a:lstStyle/>
          <a:p>
            <a:pPr algn="l"/>
            <a:r>
              <a:rPr sz="1200" b="0">
                <a:solidFill>
                  <a:srgbClr val="1F2937"/>
                </a:solidFill>
                <a:latin typeface="Aptos"/>
              </a:rPr>
              <a:t>fn_clasificar_arancel(p_valor_arancel)
Recibiría un arancel y devolvería una clasificación.</a:t>
            </a:r>
          </a:p>
        </p:txBody>
      </p:sp>
      <p:sp>
        <p:nvSpPr>
          <p:cNvPr id="15" name="Rounded Rectangle 14"/>
          <p:cNvSpPr/>
          <p:nvPr/>
        </p:nvSpPr>
        <p:spPr>
          <a:xfrm>
            <a:off x="6263640" y="1417320"/>
            <a:ext cx="2542032" cy="38862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417320"/>
            <a:ext cx="73152" cy="3886200"/>
          </a:xfrm>
          <a:prstGeom prst="rect">
            <a:avLst/>
          </a:prstGeom>
          <a:solidFill>
            <a:srgbClr val="12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1581912"/>
            <a:ext cx="2194560" cy="320040"/>
          </a:xfrm>
          <a:prstGeom prst="rect">
            <a:avLst/>
          </a:prstGeom>
          <a:noFill/>
        </p:spPr>
        <p:txBody>
          <a:bodyPr wrap="square" anchor="t">
            <a:spAutoFit/>
          </a:bodyPr>
          <a:lstStyle/>
          <a:p>
            <a:pPr algn="l"/>
            <a:r>
              <a:rPr sz="1450" b="1">
                <a:solidFill>
                  <a:srgbClr val="123A5A"/>
                </a:solidFill>
                <a:latin typeface="Aptos"/>
              </a:rPr>
              <a:t>PACKAGE</a:t>
            </a:r>
          </a:p>
        </p:txBody>
      </p:sp>
      <p:sp>
        <p:nvSpPr>
          <p:cNvPr id="18" name="TextBox 17"/>
          <p:cNvSpPr txBox="1"/>
          <p:nvPr/>
        </p:nvSpPr>
        <p:spPr>
          <a:xfrm>
            <a:off x="6464807" y="1984248"/>
            <a:ext cx="2194560" cy="3182112"/>
          </a:xfrm>
          <a:prstGeom prst="rect">
            <a:avLst/>
          </a:prstGeom>
          <a:noFill/>
        </p:spPr>
        <p:txBody>
          <a:bodyPr wrap="square" anchor="t">
            <a:spAutoFit/>
          </a:bodyPr>
          <a:lstStyle/>
          <a:p>
            <a:pPr algn="l"/>
            <a:r>
              <a:rPr sz="1200" b="0">
                <a:solidFill>
                  <a:srgbClr val="1F2937"/>
                </a:solidFill>
                <a:latin typeface="Aptos"/>
              </a:rPr>
              <a:t>pkg_academico
Agruparía procedimientos y funciones académicas relacionadas.</a:t>
            </a:r>
          </a:p>
        </p:txBody>
      </p:sp>
      <p:sp>
        <p:nvSpPr>
          <p:cNvPr id="19" name="Rounded Rectangle 18"/>
          <p:cNvSpPr/>
          <p:nvPr/>
        </p:nvSpPr>
        <p:spPr>
          <a:xfrm>
            <a:off x="9144000" y="1417320"/>
            <a:ext cx="2542032" cy="38862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1417320"/>
            <a:ext cx="73152" cy="388620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45168" y="1581912"/>
            <a:ext cx="2194560" cy="320040"/>
          </a:xfrm>
          <a:prstGeom prst="rect">
            <a:avLst/>
          </a:prstGeom>
          <a:noFill/>
        </p:spPr>
        <p:txBody>
          <a:bodyPr wrap="square" anchor="t">
            <a:spAutoFit/>
          </a:bodyPr>
          <a:lstStyle/>
          <a:p>
            <a:pPr algn="l"/>
            <a:r>
              <a:rPr sz="1450" b="1">
                <a:solidFill>
                  <a:srgbClr val="C66A1A"/>
                </a:solidFill>
                <a:latin typeface="Aptos"/>
              </a:rPr>
              <a:t>TRIGGER</a:t>
            </a:r>
          </a:p>
        </p:txBody>
      </p:sp>
      <p:sp>
        <p:nvSpPr>
          <p:cNvPr id="22" name="TextBox 21"/>
          <p:cNvSpPr txBox="1"/>
          <p:nvPr/>
        </p:nvSpPr>
        <p:spPr>
          <a:xfrm>
            <a:off x="9345168" y="1984248"/>
            <a:ext cx="2194560" cy="3182112"/>
          </a:xfrm>
          <a:prstGeom prst="rect">
            <a:avLst/>
          </a:prstGeom>
          <a:noFill/>
        </p:spPr>
        <p:txBody>
          <a:bodyPr wrap="square" anchor="t">
            <a:spAutoFit/>
          </a:bodyPr>
          <a:lstStyle/>
          <a:p>
            <a:pPr algn="l"/>
            <a:r>
              <a:rPr sz="1200" b="0">
                <a:solidFill>
                  <a:srgbClr val="1F2937"/>
                </a:solidFill>
                <a:latin typeface="Aptos"/>
              </a:rPr>
              <a:t>auditoría de arancel
Se ejecutaría ante cambios y guardaría valor anterior, nuevo valor, fecha y usuario.</a:t>
            </a:r>
          </a:p>
        </p:txBody>
      </p:sp>
      <p:sp>
        <p:nvSpPr>
          <p:cNvPr id="23" name="TextBox 22"/>
          <p:cNvSpPr txBox="1"/>
          <p:nvPr/>
        </p:nvSpPr>
        <p:spPr>
          <a:xfrm>
            <a:off x="685800" y="5650992"/>
            <a:ext cx="10789920" cy="411480"/>
          </a:xfrm>
          <a:prstGeom prst="rect">
            <a:avLst/>
          </a:prstGeom>
          <a:noFill/>
        </p:spPr>
        <p:txBody>
          <a:bodyPr wrap="square" anchor="t">
            <a:spAutoFit/>
          </a:bodyPr>
          <a:lstStyle/>
          <a:p>
            <a:pPr algn="ctr"/>
            <a:r>
              <a:rPr sz="1150" b="1">
                <a:solidFill>
                  <a:srgbClr val="5B6573"/>
                </a:solidFill>
                <a:latin typeface="Aptos"/>
              </a:rPr>
              <a:t>Procedure = tarea completa   ·   Function = devuelve un valor   ·   Package = organiza lógica   ·   Trigger = responde automáticamente a eventos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8. Cómo se integrarían y qué riesgos controlaríamos</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Una solución integral necesita reutilización, dependencias claras, rendimiento y seguridad.</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9</a:t>
            </a:r>
          </a:p>
        </p:txBody>
      </p:sp>
      <p:sp>
        <p:nvSpPr>
          <p:cNvPr id="5" name="Rounded Rectangle 4"/>
          <p:cNvSpPr/>
          <p:nvPr/>
        </p:nvSpPr>
        <p:spPr>
          <a:xfrm>
            <a:off x="9829800" y="384048"/>
            <a:ext cx="1417320" cy="347472"/>
          </a:xfrm>
          <a:prstGeom prst="round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29800" y="393192"/>
            <a:ext cx="1417320" cy="256032"/>
          </a:xfrm>
          <a:prstGeom prst="rect">
            <a:avLst/>
          </a:prstGeom>
          <a:noFill/>
        </p:spPr>
        <p:txBody>
          <a:bodyPr wrap="square" anchor="ctr">
            <a:spAutoFit/>
          </a:bodyPr>
          <a:lstStyle/>
          <a:p>
            <a:pPr algn="ctr"/>
            <a:r>
              <a:rPr sz="950" b="1">
                <a:solidFill>
                  <a:srgbClr val="FFFFFF"/>
                </a:solidFill>
                <a:latin typeface="Aptos"/>
              </a:rPr>
              <a:t>IE1.4.2 · 15%</a:t>
            </a:r>
          </a:p>
        </p:txBody>
      </p:sp>
      <p:sp>
        <p:nvSpPr>
          <p:cNvPr id="7" name="Rounded Rectangle 6"/>
          <p:cNvSpPr/>
          <p:nvPr/>
        </p:nvSpPr>
        <p:spPr>
          <a:xfrm>
            <a:off x="502920" y="1417320"/>
            <a:ext cx="1664208" cy="658368"/>
          </a:xfrm>
          <a:prstGeom prst="roundRect">
            <a:avLst/>
          </a:prstGeom>
          <a:solidFill>
            <a:srgbClr val="FFFFFF"/>
          </a:solidFill>
          <a:ln>
            <a:solidFill>
              <a:srgbClr val="2E5C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600200"/>
            <a:ext cx="1609344" cy="228600"/>
          </a:xfrm>
          <a:prstGeom prst="rect">
            <a:avLst/>
          </a:prstGeom>
          <a:noFill/>
        </p:spPr>
        <p:txBody>
          <a:bodyPr wrap="square" anchor="t">
            <a:spAutoFit/>
          </a:bodyPr>
          <a:lstStyle/>
          <a:p>
            <a:pPr algn="ctr"/>
            <a:r>
              <a:rPr sz="1050" b="1">
                <a:solidFill>
                  <a:srgbClr val="2E5CA1"/>
                </a:solidFill>
                <a:latin typeface="Aptos"/>
              </a:rPr>
              <a:t>Backend / servicio</a:t>
            </a:r>
          </a:p>
        </p:txBody>
      </p:sp>
      <p:sp>
        <p:nvSpPr>
          <p:cNvPr id="9" name="TextBox 8"/>
          <p:cNvSpPr txBox="1"/>
          <p:nvPr/>
        </p:nvSpPr>
        <p:spPr>
          <a:xfrm>
            <a:off x="2185416" y="1609344"/>
            <a:ext cx="274320" cy="228600"/>
          </a:xfrm>
          <a:prstGeom prst="rect">
            <a:avLst/>
          </a:prstGeom>
          <a:noFill/>
        </p:spPr>
        <p:txBody>
          <a:bodyPr wrap="square" anchor="t">
            <a:spAutoFit/>
          </a:bodyPr>
          <a:lstStyle/>
          <a:p>
            <a:pPr algn="ctr"/>
            <a:r>
              <a:rPr sz="1400" b="1">
                <a:solidFill>
                  <a:srgbClr val="5B6573"/>
                </a:solidFill>
                <a:latin typeface="Aptos"/>
              </a:rPr>
              <a:t>→</a:t>
            </a:r>
          </a:p>
        </p:txBody>
      </p:sp>
      <p:sp>
        <p:nvSpPr>
          <p:cNvPr id="10" name="Rounded Rectangle 9"/>
          <p:cNvSpPr/>
          <p:nvPr/>
        </p:nvSpPr>
        <p:spPr>
          <a:xfrm>
            <a:off x="2404872" y="1417320"/>
            <a:ext cx="1664208" cy="658368"/>
          </a:xfrm>
          <a:prstGeom prst="roundRect">
            <a:avLst/>
          </a:prstGeom>
          <a:solidFill>
            <a:srgbClr val="FFFFFF"/>
          </a:solidFill>
          <a:ln>
            <a:solidFill>
              <a:srgbClr val="12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32303" y="1600200"/>
            <a:ext cx="1609344" cy="228600"/>
          </a:xfrm>
          <a:prstGeom prst="rect">
            <a:avLst/>
          </a:prstGeom>
          <a:noFill/>
        </p:spPr>
        <p:txBody>
          <a:bodyPr wrap="square" anchor="t">
            <a:spAutoFit/>
          </a:bodyPr>
          <a:lstStyle/>
          <a:p>
            <a:pPr algn="ctr"/>
            <a:r>
              <a:rPr sz="1050" b="1">
                <a:solidFill>
                  <a:srgbClr val="123A5A"/>
                </a:solidFill>
                <a:latin typeface="Aptos"/>
              </a:rPr>
              <a:t>pkg_academico</a:t>
            </a:r>
          </a:p>
        </p:txBody>
      </p:sp>
      <p:sp>
        <p:nvSpPr>
          <p:cNvPr id="12" name="TextBox 11"/>
          <p:cNvSpPr txBox="1"/>
          <p:nvPr/>
        </p:nvSpPr>
        <p:spPr>
          <a:xfrm>
            <a:off x="4087368" y="1609344"/>
            <a:ext cx="274320" cy="228600"/>
          </a:xfrm>
          <a:prstGeom prst="rect">
            <a:avLst/>
          </a:prstGeom>
          <a:noFill/>
        </p:spPr>
        <p:txBody>
          <a:bodyPr wrap="square" anchor="t">
            <a:spAutoFit/>
          </a:bodyPr>
          <a:lstStyle/>
          <a:p>
            <a:pPr algn="ctr"/>
            <a:r>
              <a:rPr sz="1400" b="1">
                <a:solidFill>
                  <a:srgbClr val="5B6573"/>
                </a:solidFill>
                <a:latin typeface="Aptos"/>
              </a:rPr>
              <a:t>→</a:t>
            </a:r>
          </a:p>
        </p:txBody>
      </p:sp>
      <p:sp>
        <p:nvSpPr>
          <p:cNvPr id="13" name="Rounded Rectangle 12"/>
          <p:cNvSpPr/>
          <p:nvPr/>
        </p:nvSpPr>
        <p:spPr>
          <a:xfrm>
            <a:off x="4306824" y="1417320"/>
            <a:ext cx="1664208" cy="658368"/>
          </a:xfrm>
          <a:prstGeom prst="roundRect">
            <a:avLst/>
          </a:prstGeom>
          <a:solidFill>
            <a:srgbClr val="FFFFFF"/>
          </a:solidFill>
          <a:ln>
            <a:solidFill>
              <a:srgbClr val="4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6" y="1600200"/>
            <a:ext cx="1609344" cy="228600"/>
          </a:xfrm>
          <a:prstGeom prst="rect">
            <a:avLst/>
          </a:prstGeom>
          <a:noFill/>
        </p:spPr>
        <p:txBody>
          <a:bodyPr wrap="square" anchor="t">
            <a:spAutoFit/>
          </a:bodyPr>
          <a:lstStyle/>
          <a:p>
            <a:pPr algn="ctr"/>
            <a:r>
              <a:rPr sz="1050" b="1">
                <a:solidFill>
                  <a:srgbClr val="4E8B57"/>
                </a:solidFill>
                <a:latin typeface="Aptos"/>
              </a:rPr>
              <a:t>Procedure</a:t>
            </a:r>
          </a:p>
        </p:txBody>
      </p:sp>
      <p:sp>
        <p:nvSpPr>
          <p:cNvPr id="15" name="TextBox 14"/>
          <p:cNvSpPr txBox="1"/>
          <p:nvPr/>
        </p:nvSpPr>
        <p:spPr>
          <a:xfrm>
            <a:off x="5989320" y="1609344"/>
            <a:ext cx="274320" cy="228600"/>
          </a:xfrm>
          <a:prstGeom prst="rect">
            <a:avLst/>
          </a:prstGeom>
          <a:noFill/>
        </p:spPr>
        <p:txBody>
          <a:bodyPr wrap="square" anchor="t">
            <a:spAutoFit/>
          </a:bodyPr>
          <a:lstStyle/>
          <a:p>
            <a:pPr algn="ctr"/>
            <a:r>
              <a:rPr sz="1400" b="1">
                <a:solidFill>
                  <a:srgbClr val="5B6573"/>
                </a:solidFill>
                <a:latin typeface="Aptos"/>
              </a:rPr>
              <a:t>→</a:t>
            </a:r>
          </a:p>
        </p:txBody>
      </p:sp>
      <p:sp>
        <p:nvSpPr>
          <p:cNvPr id="16" name="Rounded Rectangle 15"/>
          <p:cNvSpPr/>
          <p:nvPr/>
        </p:nvSpPr>
        <p:spPr>
          <a:xfrm>
            <a:off x="6208776" y="1417320"/>
            <a:ext cx="1664208" cy="658368"/>
          </a:xfrm>
          <a:prstGeom prst="roundRect">
            <a:avLst/>
          </a:prstGeom>
          <a:solidFill>
            <a:srgbClr val="FFFFFF"/>
          </a:solidFill>
          <a:ln>
            <a:solidFill>
              <a:srgbClr val="4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1600200"/>
            <a:ext cx="1609344" cy="228600"/>
          </a:xfrm>
          <a:prstGeom prst="rect">
            <a:avLst/>
          </a:prstGeom>
          <a:noFill/>
        </p:spPr>
        <p:txBody>
          <a:bodyPr wrap="square" anchor="t">
            <a:spAutoFit/>
          </a:bodyPr>
          <a:lstStyle/>
          <a:p>
            <a:pPr algn="ctr"/>
            <a:r>
              <a:rPr sz="1050" b="1">
                <a:solidFill>
                  <a:srgbClr val="4E8B57"/>
                </a:solidFill>
                <a:latin typeface="Aptos"/>
              </a:rPr>
              <a:t>Function</a:t>
            </a:r>
          </a:p>
        </p:txBody>
      </p:sp>
      <p:sp>
        <p:nvSpPr>
          <p:cNvPr id="18" name="TextBox 17"/>
          <p:cNvSpPr txBox="1"/>
          <p:nvPr/>
        </p:nvSpPr>
        <p:spPr>
          <a:xfrm>
            <a:off x="7891272" y="1609344"/>
            <a:ext cx="274320" cy="228600"/>
          </a:xfrm>
          <a:prstGeom prst="rect">
            <a:avLst/>
          </a:prstGeom>
          <a:noFill/>
        </p:spPr>
        <p:txBody>
          <a:bodyPr wrap="square" anchor="t">
            <a:spAutoFit/>
          </a:bodyPr>
          <a:lstStyle/>
          <a:p>
            <a:pPr algn="ctr"/>
            <a:r>
              <a:rPr sz="1400" b="1">
                <a:solidFill>
                  <a:srgbClr val="5B6573"/>
                </a:solidFill>
                <a:latin typeface="Aptos"/>
              </a:rPr>
              <a:t>→</a:t>
            </a:r>
          </a:p>
        </p:txBody>
      </p:sp>
      <p:sp>
        <p:nvSpPr>
          <p:cNvPr id="19" name="Rounded Rectangle 18"/>
          <p:cNvSpPr/>
          <p:nvPr/>
        </p:nvSpPr>
        <p:spPr>
          <a:xfrm>
            <a:off x="8110728" y="1417320"/>
            <a:ext cx="1664208" cy="658368"/>
          </a:xfrm>
          <a:prstGeom prst="roundRect">
            <a:avLst/>
          </a:prstGeom>
          <a:solidFill>
            <a:srgbClr val="FFFFFF"/>
          </a:solidFill>
          <a:ln>
            <a:solidFill>
              <a:srgbClr val="2E5C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1600200"/>
            <a:ext cx="1609344" cy="228600"/>
          </a:xfrm>
          <a:prstGeom prst="rect">
            <a:avLst/>
          </a:prstGeom>
          <a:noFill/>
        </p:spPr>
        <p:txBody>
          <a:bodyPr wrap="square" anchor="t">
            <a:spAutoFit/>
          </a:bodyPr>
          <a:lstStyle/>
          <a:p>
            <a:pPr algn="ctr"/>
            <a:r>
              <a:rPr sz="1050" b="1">
                <a:solidFill>
                  <a:srgbClr val="2E5CA1"/>
                </a:solidFill>
                <a:latin typeface="Aptos"/>
              </a:rPr>
              <a:t>Tablas Oracle</a:t>
            </a:r>
          </a:p>
        </p:txBody>
      </p:sp>
      <p:sp>
        <p:nvSpPr>
          <p:cNvPr id="21" name="TextBox 20"/>
          <p:cNvSpPr txBox="1"/>
          <p:nvPr/>
        </p:nvSpPr>
        <p:spPr>
          <a:xfrm>
            <a:off x="9793224" y="1609344"/>
            <a:ext cx="274320" cy="228600"/>
          </a:xfrm>
          <a:prstGeom prst="rect">
            <a:avLst/>
          </a:prstGeom>
          <a:noFill/>
        </p:spPr>
        <p:txBody>
          <a:bodyPr wrap="square" anchor="t">
            <a:spAutoFit/>
          </a:bodyPr>
          <a:lstStyle/>
          <a:p>
            <a:pPr algn="ctr"/>
            <a:r>
              <a:rPr sz="1400" b="1">
                <a:solidFill>
                  <a:srgbClr val="5B6573"/>
                </a:solidFill>
                <a:latin typeface="Aptos"/>
              </a:rPr>
              <a:t>→</a:t>
            </a:r>
          </a:p>
        </p:txBody>
      </p:sp>
      <p:sp>
        <p:nvSpPr>
          <p:cNvPr id="22" name="Rounded Rectangle 21"/>
          <p:cNvSpPr/>
          <p:nvPr/>
        </p:nvSpPr>
        <p:spPr>
          <a:xfrm>
            <a:off x="10012680" y="1417320"/>
            <a:ext cx="1664208" cy="658368"/>
          </a:xfrm>
          <a:prstGeom prst="roundRect">
            <a:avLst/>
          </a:prstGeom>
          <a:solidFill>
            <a:srgbClr val="FFFFFF"/>
          </a:solidFill>
          <a:ln>
            <a:solidFill>
              <a:srgbClr val="C66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40112" y="1600200"/>
            <a:ext cx="1609344" cy="228600"/>
          </a:xfrm>
          <a:prstGeom prst="rect">
            <a:avLst/>
          </a:prstGeom>
          <a:noFill/>
        </p:spPr>
        <p:txBody>
          <a:bodyPr wrap="square" anchor="t">
            <a:spAutoFit/>
          </a:bodyPr>
          <a:lstStyle/>
          <a:p>
            <a:pPr algn="ctr"/>
            <a:r>
              <a:rPr sz="1050" b="1">
                <a:solidFill>
                  <a:srgbClr val="C66A1A"/>
                </a:solidFill>
                <a:latin typeface="Aptos"/>
              </a:rPr>
              <a:t>Trigger auditoría</a:t>
            </a:r>
          </a:p>
        </p:txBody>
      </p:sp>
      <p:sp>
        <p:nvSpPr>
          <p:cNvPr id="24" name="Rounded Rectangle 23"/>
          <p:cNvSpPr/>
          <p:nvPr/>
        </p:nvSpPr>
        <p:spPr>
          <a:xfrm>
            <a:off x="502920" y="2743200"/>
            <a:ext cx="2697480" cy="20574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2743200"/>
            <a:ext cx="73152" cy="205740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2907792"/>
            <a:ext cx="2350008" cy="320040"/>
          </a:xfrm>
          <a:prstGeom prst="rect">
            <a:avLst/>
          </a:prstGeom>
          <a:noFill/>
        </p:spPr>
        <p:txBody>
          <a:bodyPr wrap="square" anchor="t">
            <a:spAutoFit/>
          </a:bodyPr>
          <a:lstStyle/>
          <a:p>
            <a:pPr algn="l"/>
            <a:r>
              <a:rPr sz="1450" b="1">
                <a:solidFill>
                  <a:srgbClr val="2E5CA1"/>
                </a:solidFill>
                <a:latin typeface="Aptos"/>
              </a:rPr>
              <a:t>Rendimiento</a:t>
            </a:r>
          </a:p>
        </p:txBody>
      </p:sp>
      <p:sp>
        <p:nvSpPr>
          <p:cNvPr id="27" name="TextBox 26"/>
          <p:cNvSpPr txBox="1"/>
          <p:nvPr/>
        </p:nvSpPr>
        <p:spPr>
          <a:xfrm>
            <a:off x="704088" y="3310128"/>
            <a:ext cx="2350008" cy="1353312"/>
          </a:xfrm>
          <a:prstGeom prst="rect">
            <a:avLst/>
          </a:prstGeom>
          <a:noFill/>
        </p:spPr>
        <p:txBody>
          <a:bodyPr wrap="square" anchor="t">
            <a:spAutoFit/>
          </a:bodyPr>
          <a:lstStyle/>
          <a:p>
            <a:pPr algn="l"/>
            <a:r>
              <a:rPr sz="1200" b="0">
                <a:solidFill>
                  <a:srgbClr val="1F2937"/>
                </a:solidFill>
                <a:latin typeface="Aptos"/>
              </a:rPr>
              <a:t>Evitar lógica pesada y procesamiento fila por fila cuando SQL pueda resolverlo mejor.</a:t>
            </a:r>
          </a:p>
        </p:txBody>
      </p:sp>
      <p:sp>
        <p:nvSpPr>
          <p:cNvPr id="28" name="Rounded Rectangle 27"/>
          <p:cNvSpPr/>
          <p:nvPr/>
        </p:nvSpPr>
        <p:spPr>
          <a:xfrm>
            <a:off x="3401568" y="2743200"/>
            <a:ext cx="2697480" cy="20574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01568" y="2743200"/>
            <a:ext cx="73152" cy="205740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02736" y="2907792"/>
            <a:ext cx="2350008" cy="320040"/>
          </a:xfrm>
          <a:prstGeom prst="rect">
            <a:avLst/>
          </a:prstGeom>
          <a:noFill/>
        </p:spPr>
        <p:txBody>
          <a:bodyPr wrap="square" anchor="t">
            <a:spAutoFit/>
          </a:bodyPr>
          <a:lstStyle/>
          <a:p>
            <a:pPr algn="l"/>
            <a:r>
              <a:rPr sz="1450" b="1">
                <a:solidFill>
                  <a:srgbClr val="4E8B57"/>
                </a:solidFill>
                <a:latin typeface="Aptos"/>
              </a:rPr>
              <a:t>Mantenimiento</a:t>
            </a:r>
          </a:p>
        </p:txBody>
      </p:sp>
      <p:sp>
        <p:nvSpPr>
          <p:cNvPr id="31" name="TextBox 30"/>
          <p:cNvSpPr txBox="1"/>
          <p:nvPr/>
        </p:nvSpPr>
        <p:spPr>
          <a:xfrm>
            <a:off x="3602736" y="3310128"/>
            <a:ext cx="2350008" cy="1353312"/>
          </a:xfrm>
          <a:prstGeom prst="rect">
            <a:avLst/>
          </a:prstGeom>
          <a:noFill/>
        </p:spPr>
        <p:txBody>
          <a:bodyPr wrap="square" anchor="t">
            <a:spAutoFit/>
          </a:bodyPr>
          <a:lstStyle/>
          <a:p>
            <a:pPr algn="l"/>
            <a:r>
              <a:rPr sz="1200" b="0">
                <a:solidFill>
                  <a:srgbClr val="1F2937"/>
                </a:solidFill>
                <a:latin typeface="Aptos"/>
              </a:rPr>
              <a:t>Una responsabilidad clara por objeto y revisión de dependencias cuando cambian tablas o columnas.</a:t>
            </a:r>
          </a:p>
        </p:txBody>
      </p:sp>
      <p:sp>
        <p:nvSpPr>
          <p:cNvPr id="32" name="Rounded Rectangle 31"/>
          <p:cNvSpPr/>
          <p:nvPr/>
        </p:nvSpPr>
        <p:spPr>
          <a:xfrm>
            <a:off x="6300216" y="2743200"/>
            <a:ext cx="2697480" cy="20574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0216" y="2743200"/>
            <a:ext cx="73152" cy="2057400"/>
          </a:xfrm>
          <a:prstGeom prst="rect">
            <a:avLst/>
          </a:prstGeom>
          <a:solidFill>
            <a:srgbClr val="12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01383" y="2907792"/>
            <a:ext cx="2350008" cy="320040"/>
          </a:xfrm>
          <a:prstGeom prst="rect">
            <a:avLst/>
          </a:prstGeom>
          <a:noFill/>
        </p:spPr>
        <p:txBody>
          <a:bodyPr wrap="square" anchor="t">
            <a:spAutoFit/>
          </a:bodyPr>
          <a:lstStyle/>
          <a:p>
            <a:pPr algn="l"/>
            <a:r>
              <a:rPr sz="1450" b="1">
                <a:solidFill>
                  <a:srgbClr val="123A5A"/>
                </a:solidFill>
                <a:latin typeface="Aptos"/>
              </a:rPr>
              <a:t>Seguridad</a:t>
            </a:r>
          </a:p>
        </p:txBody>
      </p:sp>
      <p:sp>
        <p:nvSpPr>
          <p:cNvPr id="35" name="TextBox 34"/>
          <p:cNvSpPr txBox="1"/>
          <p:nvPr/>
        </p:nvSpPr>
        <p:spPr>
          <a:xfrm>
            <a:off x="6501383" y="3310128"/>
            <a:ext cx="2350008" cy="1353312"/>
          </a:xfrm>
          <a:prstGeom prst="rect">
            <a:avLst/>
          </a:prstGeom>
          <a:noFill/>
        </p:spPr>
        <p:txBody>
          <a:bodyPr wrap="square" anchor="t">
            <a:spAutoFit/>
          </a:bodyPr>
          <a:lstStyle/>
          <a:p>
            <a:pPr algn="l"/>
            <a:r>
              <a:rPr sz="1200" b="0">
                <a:solidFill>
                  <a:srgbClr val="1F2937"/>
                </a:solidFill>
                <a:latin typeface="Aptos"/>
              </a:rPr>
              <a:t>Permisos solo para usuarios o procesos que realmente necesiten ejecutar o modificar los objetos.</a:t>
            </a:r>
          </a:p>
        </p:txBody>
      </p:sp>
      <p:sp>
        <p:nvSpPr>
          <p:cNvPr id="36" name="Rounded Rectangle 35"/>
          <p:cNvSpPr/>
          <p:nvPr/>
        </p:nvSpPr>
        <p:spPr>
          <a:xfrm>
            <a:off x="9198864" y="2743200"/>
            <a:ext cx="2487168" cy="205740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98864" y="2743200"/>
            <a:ext cx="73152" cy="205740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00032" y="2907792"/>
            <a:ext cx="2139696" cy="320040"/>
          </a:xfrm>
          <a:prstGeom prst="rect">
            <a:avLst/>
          </a:prstGeom>
          <a:noFill/>
        </p:spPr>
        <p:txBody>
          <a:bodyPr wrap="square" anchor="t">
            <a:spAutoFit/>
          </a:bodyPr>
          <a:lstStyle/>
          <a:p>
            <a:pPr algn="l"/>
            <a:r>
              <a:rPr sz="1450" b="1">
                <a:solidFill>
                  <a:srgbClr val="C66A1A"/>
                </a:solidFill>
                <a:latin typeface="Aptos"/>
              </a:rPr>
              <a:t>Integridad</a:t>
            </a:r>
          </a:p>
        </p:txBody>
      </p:sp>
      <p:sp>
        <p:nvSpPr>
          <p:cNvPr id="39" name="TextBox 38"/>
          <p:cNvSpPr txBox="1"/>
          <p:nvPr/>
        </p:nvSpPr>
        <p:spPr>
          <a:xfrm>
            <a:off x="9400032" y="3310128"/>
            <a:ext cx="2139696" cy="1353312"/>
          </a:xfrm>
          <a:prstGeom prst="rect">
            <a:avLst/>
          </a:prstGeom>
          <a:noFill/>
        </p:spPr>
        <p:txBody>
          <a:bodyPr wrap="square" anchor="t">
            <a:spAutoFit/>
          </a:bodyPr>
          <a:lstStyle/>
          <a:p>
            <a:pPr algn="l"/>
            <a:r>
              <a:rPr sz="1200" b="0">
                <a:solidFill>
                  <a:srgbClr val="1F2937"/>
                </a:solidFill>
                <a:latin typeface="Aptos"/>
              </a:rPr>
              <a:t>Los triggers apoyan auditoría, pero no reemplazan PK, FK, NOT NULL ni CHECK.</a:t>
            </a:r>
          </a:p>
        </p:txBody>
      </p:sp>
      <p:sp>
        <p:nvSpPr>
          <p:cNvPr id="40" name="TextBox 39"/>
          <p:cNvSpPr txBox="1"/>
          <p:nvPr/>
        </p:nvSpPr>
        <p:spPr>
          <a:xfrm>
            <a:off x="685800" y="5623560"/>
            <a:ext cx="10789920" cy="411480"/>
          </a:xfrm>
          <a:prstGeom prst="rect">
            <a:avLst/>
          </a:prstGeom>
          <a:noFill/>
        </p:spPr>
        <p:txBody>
          <a:bodyPr wrap="square" anchor="t">
            <a:spAutoFit/>
          </a:bodyPr>
          <a:lstStyle/>
          <a:p>
            <a:pPr algn="ctr"/>
            <a:r>
              <a:rPr sz="1200" b="1">
                <a:solidFill>
                  <a:srgbClr val="5B6573"/>
                </a:solidFill>
                <a:latin typeface="Aptos"/>
              </a:rPr>
              <a:t>La estrategia busca reutilización sin esconder toda la lógica del sistema dentro de Oracle.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9966960" cy="512064"/>
          </a:xfrm>
          <a:prstGeom prst="rect">
            <a:avLst/>
          </a:prstGeom>
          <a:noFill/>
        </p:spPr>
        <p:txBody>
          <a:bodyPr wrap="square" anchor="t">
            <a:spAutoFit/>
          </a:bodyPr>
          <a:lstStyle/>
          <a:p>
            <a:pPr algn="l"/>
            <a:r>
              <a:rPr sz="2500" b="1">
                <a:solidFill>
                  <a:srgbClr val="123A5A"/>
                </a:solidFill>
                <a:latin typeface="Aptos Display"/>
              </a:rPr>
              <a:t>9. Conclusión</a:t>
            </a:r>
          </a:p>
        </p:txBody>
      </p:sp>
      <p:sp>
        <p:nvSpPr>
          <p:cNvPr id="3" name="TextBox 2"/>
          <p:cNvSpPr txBox="1"/>
          <p:nvPr/>
        </p:nvSpPr>
        <p:spPr>
          <a:xfrm>
            <a:off x="521207" y="850392"/>
            <a:ext cx="10332720" cy="320040"/>
          </a:xfrm>
          <a:prstGeom prst="rect">
            <a:avLst/>
          </a:prstGeom>
          <a:noFill/>
        </p:spPr>
        <p:txBody>
          <a:bodyPr wrap="square" anchor="t">
            <a:spAutoFit/>
          </a:bodyPr>
          <a:lstStyle/>
          <a:p>
            <a:pPr algn="l"/>
            <a:r>
              <a:rPr sz="1150" b="0">
                <a:solidFill>
                  <a:srgbClr val="5B6573"/>
                </a:solidFill>
                <a:latin typeface="Aptos"/>
              </a:rPr>
              <a:t>EDUBIO360 transforma una fuente plana en información estructurada, procesable y reutilizable.</a:t>
            </a:r>
          </a:p>
        </p:txBody>
      </p:sp>
      <p:sp>
        <p:nvSpPr>
          <p:cNvPr id="4" name="TextBox 3"/>
          <p:cNvSpPr txBox="1"/>
          <p:nvPr/>
        </p:nvSpPr>
        <p:spPr>
          <a:xfrm>
            <a:off x="11109960" y="6400800"/>
            <a:ext cx="502920" cy="228600"/>
          </a:xfrm>
          <a:prstGeom prst="rect">
            <a:avLst/>
          </a:prstGeom>
          <a:noFill/>
        </p:spPr>
        <p:txBody>
          <a:bodyPr wrap="square" anchor="t">
            <a:spAutoFit/>
          </a:bodyPr>
          <a:lstStyle/>
          <a:p>
            <a:pPr algn="r"/>
            <a:r>
              <a:rPr sz="900" b="0">
                <a:solidFill>
                  <a:srgbClr val="5B6573"/>
                </a:solidFill>
                <a:latin typeface="Aptos"/>
              </a:rPr>
              <a:t>10</a:t>
            </a:r>
          </a:p>
        </p:txBody>
      </p:sp>
      <p:sp>
        <p:nvSpPr>
          <p:cNvPr id="5" name="Rounded Rectangle 4"/>
          <p:cNvSpPr/>
          <p:nvPr/>
        </p:nvSpPr>
        <p:spPr>
          <a:xfrm>
            <a:off x="640080" y="1417320"/>
            <a:ext cx="3429000" cy="324612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3246120"/>
          </a:xfrm>
          <a:prstGeom prst="rect">
            <a:avLst/>
          </a:prstGeom>
          <a:solidFill>
            <a:srgbClr val="2E5C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581912"/>
            <a:ext cx="3081528" cy="320040"/>
          </a:xfrm>
          <a:prstGeom prst="rect">
            <a:avLst/>
          </a:prstGeom>
          <a:noFill/>
        </p:spPr>
        <p:txBody>
          <a:bodyPr wrap="square" anchor="t">
            <a:spAutoFit/>
          </a:bodyPr>
          <a:lstStyle/>
          <a:p>
            <a:pPr algn="l"/>
            <a:r>
              <a:rPr sz="1450" b="1">
                <a:solidFill>
                  <a:srgbClr val="2E5CA1"/>
                </a:solidFill>
                <a:latin typeface="Aptos"/>
              </a:rPr>
              <a:t>1 · Datos organizados</a:t>
            </a:r>
          </a:p>
        </p:txBody>
      </p:sp>
      <p:sp>
        <p:nvSpPr>
          <p:cNvPr id="8" name="TextBox 7"/>
          <p:cNvSpPr txBox="1"/>
          <p:nvPr/>
        </p:nvSpPr>
        <p:spPr>
          <a:xfrm>
            <a:off x="841247" y="1984248"/>
            <a:ext cx="3081528" cy="2542032"/>
          </a:xfrm>
          <a:prstGeom prst="rect">
            <a:avLst/>
          </a:prstGeom>
          <a:noFill/>
        </p:spPr>
        <p:txBody>
          <a:bodyPr wrap="square" anchor="t">
            <a:spAutoFit/>
          </a:bodyPr>
          <a:lstStyle/>
          <a:p>
            <a:pPr algn="l"/>
            <a:r>
              <a:rPr sz="1600" b="0">
                <a:solidFill>
                  <a:srgbClr val="1F2937"/>
                </a:solidFill>
                <a:latin typeface="Aptos"/>
              </a:rPr>
              <a:t>106.555 registros se cargan, revisan y distribuyen en 19 tablas normalizadas.</a:t>
            </a:r>
          </a:p>
        </p:txBody>
      </p:sp>
      <p:sp>
        <p:nvSpPr>
          <p:cNvPr id="9" name="Rounded Rectangle 8"/>
          <p:cNvSpPr/>
          <p:nvPr/>
        </p:nvSpPr>
        <p:spPr>
          <a:xfrm>
            <a:off x="4379976" y="1417320"/>
            <a:ext cx="3429000" cy="324612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9976" y="1417320"/>
            <a:ext cx="73152" cy="3246120"/>
          </a:xfrm>
          <a:prstGeom prst="rect">
            <a:avLst/>
          </a:prstGeom>
          <a:solidFill>
            <a:srgbClr val="4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1581912"/>
            <a:ext cx="3081528" cy="320040"/>
          </a:xfrm>
          <a:prstGeom prst="rect">
            <a:avLst/>
          </a:prstGeom>
          <a:noFill/>
        </p:spPr>
        <p:txBody>
          <a:bodyPr wrap="square" anchor="t">
            <a:spAutoFit/>
          </a:bodyPr>
          <a:lstStyle/>
          <a:p>
            <a:pPr algn="l"/>
            <a:r>
              <a:rPr sz="1450" b="1">
                <a:solidFill>
                  <a:srgbClr val="4E8B57"/>
                </a:solidFill>
                <a:latin typeface="Aptos"/>
              </a:rPr>
              <a:t>2 · PL/SQL con propósito</a:t>
            </a:r>
          </a:p>
        </p:txBody>
      </p:sp>
      <p:sp>
        <p:nvSpPr>
          <p:cNvPr id="12" name="TextBox 11"/>
          <p:cNvSpPr txBox="1"/>
          <p:nvPr/>
        </p:nvSpPr>
        <p:spPr>
          <a:xfrm>
            <a:off x="4581144" y="1984248"/>
            <a:ext cx="3081528" cy="2542032"/>
          </a:xfrm>
          <a:prstGeom prst="rect">
            <a:avLst/>
          </a:prstGeom>
          <a:noFill/>
        </p:spPr>
        <p:txBody>
          <a:bodyPr wrap="square" anchor="t">
            <a:spAutoFit/>
          </a:bodyPr>
          <a:lstStyle/>
          <a:p>
            <a:pPr algn="l"/>
            <a:r>
              <a:rPr sz="1500" b="0">
                <a:solidFill>
                  <a:srgbClr val="1F2937"/>
                </a:solidFill>
                <a:latin typeface="Aptos"/>
              </a:rPr>
              <a:t>RECORD agrupa, VARRAY limita colecciones, cursores recorren y excepciones controlan situaciones reales.</a:t>
            </a:r>
          </a:p>
        </p:txBody>
      </p:sp>
      <p:sp>
        <p:nvSpPr>
          <p:cNvPr id="13" name="Rounded Rectangle 12"/>
          <p:cNvSpPr/>
          <p:nvPr/>
        </p:nvSpPr>
        <p:spPr>
          <a:xfrm>
            <a:off x="8119872" y="1417320"/>
            <a:ext cx="3429000" cy="3246120"/>
          </a:xfrm>
          <a:prstGeom prst="roundRect">
            <a:avLst/>
          </a:prstGeom>
          <a:solidFill>
            <a:srgbClr val="FFFFFF"/>
          </a:solidFill>
          <a:ln>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417320"/>
            <a:ext cx="73152" cy="3246120"/>
          </a:xfrm>
          <a:prstGeom prst="rect">
            <a:avLst/>
          </a:prstGeom>
          <a:solidFill>
            <a:srgbClr val="C6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581912"/>
            <a:ext cx="3081528" cy="320040"/>
          </a:xfrm>
          <a:prstGeom prst="rect">
            <a:avLst/>
          </a:prstGeom>
          <a:noFill/>
        </p:spPr>
        <p:txBody>
          <a:bodyPr wrap="square" anchor="t">
            <a:spAutoFit/>
          </a:bodyPr>
          <a:lstStyle/>
          <a:p>
            <a:pPr algn="l"/>
            <a:r>
              <a:rPr sz="1450" b="1">
                <a:solidFill>
                  <a:srgbClr val="C66A1A"/>
                </a:solidFill>
                <a:latin typeface="Aptos"/>
              </a:rPr>
              <a:t>3 · Base para crecer</a:t>
            </a:r>
          </a:p>
        </p:txBody>
      </p:sp>
      <p:sp>
        <p:nvSpPr>
          <p:cNvPr id="16" name="TextBox 15"/>
          <p:cNvSpPr txBox="1"/>
          <p:nvPr/>
        </p:nvSpPr>
        <p:spPr>
          <a:xfrm>
            <a:off x="8321040" y="1984248"/>
            <a:ext cx="3081528" cy="2542032"/>
          </a:xfrm>
          <a:prstGeom prst="rect">
            <a:avLst/>
          </a:prstGeom>
          <a:noFill/>
        </p:spPr>
        <p:txBody>
          <a:bodyPr wrap="square" anchor="t">
            <a:spAutoFit/>
          </a:bodyPr>
          <a:lstStyle/>
          <a:p>
            <a:pPr algn="l"/>
            <a:r>
              <a:rPr sz="1470" b="0">
                <a:solidFill>
                  <a:srgbClr val="1F2937"/>
                </a:solidFill>
                <a:latin typeface="Aptos"/>
              </a:rPr>
              <a:t>Procedures, Functions, Packages y Triggers se incorporarían cuando exista una necesidad concreta y justificable.</a:t>
            </a:r>
          </a:p>
        </p:txBody>
      </p:sp>
      <p:sp>
        <p:nvSpPr>
          <p:cNvPr id="17" name="TextBox 16"/>
          <p:cNvSpPr txBox="1"/>
          <p:nvPr/>
        </p:nvSpPr>
        <p:spPr>
          <a:xfrm>
            <a:off x="914400" y="5166360"/>
            <a:ext cx="10332720" cy="640080"/>
          </a:xfrm>
          <a:prstGeom prst="rect">
            <a:avLst/>
          </a:prstGeom>
          <a:noFill/>
        </p:spPr>
        <p:txBody>
          <a:bodyPr wrap="square" anchor="t">
            <a:spAutoFit/>
          </a:bodyPr>
          <a:lstStyle/>
          <a:p>
            <a:pPr algn="ctr"/>
            <a:r>
              <a:rPr sz="1700" b="1">
                <a:solidFill>
                  <a:srgbClr val="123A5A"/>
                </a:solidFill>
                <a:latin typeface="Aptos"/>
              </a:rPr>
              <a:t>Resultado: una base de datos consistente que puede ser consumida por el backend sin depender de la planilla original.</a:t>
            </a:r>
          </a:p>
        </p:txBody>
      </p:sp>
      <p:sp>
        <p:nvSpPr>
          <p:cNvPr id="18" name="TextBox 17"/>
          <p:cNvSpPr txBox="1"/>
          <p:nvPr/>
        </p:nvSpPr>
        <p:spPr>
          <a:xfrm>
            <a:off x="5074920" y="5989320"/>
            <a:ext cx="2011680" cy="365760"/>
          </a:xfrm>
          <a:prstGeom prst="rect">
            <a:avLst/>
          </a:prstGeom>
          <a:noFill/>
        </p:spPr>
        <p:txBody>
          <a:bodyPr wrap="square" anchor="t">
            <a:spAutoFit/>
          </a:bodyPr>
          <a:lstStyle/>
          <a:p>
            <a:pPr algn="ctr"/>
            <a:r>
              <a:rPr sz="1800" b="1">
                <a:solidFill>
                  <a:srgbClr val="2E5CA1"/>
                </a:solidFill>
                <a:latin typeface="Aptos"/>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EDUBIO360 - Evaluación Parcial N° 1</dc:title>
  <dc:subject>Presentación BDY1103</dc:subject>
  <dc:creator>Javier Pérez y Nicolás Vega</dc:creator>
  <cp:keywords/>
  <dc:description>generated using python-pptx</dc:description>
  <cp:lastModifiedBy>Steve Canny</cp:lastModifiedBy>
  <cp:revision>1</cp:revision>
  <dcterms:created xsi:type="dcterms:W3CDTF">2026-09-23T12:00:00Z</dcterms:created>
  <dcterms:modified xsi:type="dcterms:W3CDTF">2026-09-23T12:00:00Z</dcterms:modified>
  <cp:category/>
</cp:coreProperties>
</file>